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13" d="100"/>
          <a:sy n="113" d="100"/>
        </p:scale>
        <p:origin x="552"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92012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p:txBody>
          <a:bodyPr/>
          <a:lstStyle/>
          <a:p>
            <a:r>
              <a:t>Title slide. Names, register numbers, guide and the guide's signature are left as the template's placeholders: fill them in, get the signature, scan this slide and keep the scan as slide 1.</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p:txBody>
          <a:bodyPr/>
          <a:lstStyle/>
          <a:p>
            <a:r>
              <a:t>Open with the hook. An elderly woman falls at home. Her ring detects the fall. A minute later she types “I'm fine, just a bit shaken”. A text-only assistant reads that and tells her she is fine. Ours does not: the ring's fall event overrides the calm text and the reply is an emergency message. I will prove that live at the end (demo, step 3), and it is scenario 7 in our evaluation, where only Version D caught it.</a:t>
            </a:r>
          </a:p>
          <a:p/>
          <a:p>
            <a:r>
              <a:t>The problem has three parts: existing fall systems react after the fall; chatbots are not trustworthy with health numbers; and safety checks only read text. Our objectives follow directly: an explainable deterministic fall-risk engine, an agent where sensors, engine and LLM check each other, and real-data validation against the clinical Timed Up and Go test.</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p:txBody>
          <a:bodyPr/>
          <a:lstStyle/>
          <a:p>
            <a:r>
              <a:t>All four modules promised at Review-I are delivered, each with offline unit tests: the trend-deviation signal-processing layer, the self-verification loop, personal correlation detection and router confidence scoring. Following the feedback, we chose fall prediction as the safety-critical application, and, as our guide asked, we went deeper into signal processing: a gait pipeline validated on real IMU data (PhysioNet LTMM), shown in the results.</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p:txBody>
          <a:bodyPr/>
          <a:lstStyle/>
          <a:p>
            <a:r>
              <a:t>The ten papers from Review-I stay in the table; they covered health agents, RAG and grounding. Kriti will paste them here and in the references.</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p:txBody>
          <a:bodyPr/>
          <a:lstStyle/>
          <a:p>
            <a:r>
              <a:t>Rows 11–14 give the evidence for our layer weights (fall history, gait, orthostatic hypotension, sleep). Row 15 is the personal-baseline idea. Rows 16–17 motivate cycle-aware baselines.</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p:txBody>
          <a:bodyPr/>
          <a:lstStyle/>
          <a:p>
            <a:r>
              <a:t>Rows 18–22 are the gait and LTMM papers. Askhatova 2026 is the fair comparison for our LTMM results because it also uses subject-wise cross-validation. McCamley and Moe-Nilssen are the signal-processing methods we implemented. Drover 2017 motivated our turn features; on our data they did not help (Experiment 2, model M1).</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p:txBody>
          <a:bodyPr/>
          <a:lstStyle/>
          <a:p>
            <a:r>
              <a:t>Four gaps come out of the literature, and each maps to one of our contributions on the next slide.</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p:txBody>
          <a:bodyPr/>
          <a:lstStyle/>
          <a:p>
            <a:r>
              <a:t>Four core contributions, each with proof from our own results files.</a:t>
            </a:r>
          </a:p>
          <a:p>
            <a:r>
              <a:t>1. Tri-modal safety fusion: in 11 scenarios with 3 emergencies, D caught 3/3, including scenario 7, where the text was calm and only the ring's fall event showed the emergency; the LLM classifier did not flag it. C caught 2/3; A and B caught 0/3 and 0/3. No version raised a false alarm (D 0/8).</a:t>
            </a:r>
          </a:p>
          <a:p>
            <a:r>
              <a:t>2. Compute-then-explain: strict grounding is the share of numbers in a reply that appear in the user's real data, on personal queries. D 0.979, C 0.955, A 0.723, B 0.606. Self-verification fired 1/11 times and fixed that reply from 0.80 to 1.00.</a:t>
            </a:r>
          </a:p>
          <a:p>
            <a:r>
              <a:t>3. Weights: λ is proportional to the natural log of published odds/risk ratios, so fall history counts most. No training data needed; the ratios come from different studies, which we state as a limitation.</a:t>
            </a:r>
          </a:p>
          <a:p>
            <a:r>
              <a:t>4. Cycle-aware baselines: for the healthy luteal user, mean physiology-layer risk on 9 normal luteal days drops from 18.1 to 10.2; for the strained user, days flagged at ≥ 30 drop from 2 to 0 while her genuine acute strain days stay high. Honest caveat: for the healthy user one day stays flagged (1 → 1).</a:t>
            </a:r>
          </a:p>
          <a:p>
            <a:r>
              <a:t>Safety-asymmetric routing is an extra safeguard. It did not fire in the evaluation because the router was confident (0.90–0.99), so we only claim it through unit tests.</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p:txBody>
          <a:bodyPr/>
          <a:lstStyle/>
          <a:p>
            <a:r>
              <a:t>The request goes through six stages. (1) Router, LLM safety classifier and the ring fall-event lookup run in parallel. (2) Tri-modal fusion decides if this is an emergency; if so we reply immediately. (3) Otherwise we fetch only the data streams the router selected. (4) The deterministic engine computes the score, tier, confidence and contributors. (5) The LLM explains those numbers as facts, rationale and action. (6) Every number in the reply is checked against the patient data; if one is missing we regenerate once. Three things to remember: the engine computes, the LLM only explains, and the ring can override the chat. The full function-level diagram is the backup slide at the end and in docs/ARCHITECTURE.md.</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p:txBody>
          <a:bodyPr/>
          <a:lstStyle/>
          <a:p>
            <a:r>
              <a:t>Every feature (HRV, resting HR, SpO2, skin temperature, sleep duration and score, stress, steps) is compared with the user's own robust baseline: median and MAD over the previous 28 days. The z-score goes through a dead zone so normal day-to-day noise adds nothing, and saturates at z = 3. Layers average their features' strain; the four layers are combined with evidence weights λ, renormalised by how much data each layer actually has (coverage), so a missing sensor is not silently read as 'no risk'. Because the score is a weighted sum, each feature's contribution in points adds up exactly to the score, which is what the LLM is allowed to explain. Weights: fall history 0.402, motion 0.290, physiology 0.214, recovery 0.093. Exact formulas: docs/METHODS.md §1.</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p:txBody>
          <a:bodyPr/>
          <a:lstStyle/>
          <a:p>
            <a:r>
              <a:t>The guide asked for deeper signal processing. Version 1 of the gait detector gave implausibly high variability, so version 2 removes turns using the gyroscope, detects initial contacts with the McCamley method, rejects implausible intervals and uses stride-time CV as in Hausdorff 2001. Every threshold is in docs/METHODS.md §2. On the right is the core of the safety fusion: an uncancelled ring fall event in the last 30 minutes is enough on its own to make the reply an emergency, whatever the text says.</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p:txBody>
          <a:bodyPr/>
          <a:lstStyle/>
          <a:p>
            <a:r>
              <a:t>5 synthetic demo users, 35 days each, generated with fixed seeds (engine run dated 2026-09-27). The tiers come out as designed: the recent-faller is HIGH, the luteal user with poor recovery MODERATE, the others LOW. The stale user is flagged and her coverage drops to 70%. The chart is the cycle-aware ablation: grey is without correction, colour with. Normal luteal changes are suppressed, but the strained user's real acute strain stays high. This is synthetic data, so it demonstrates correct behaviour, not clinical accuracy; that is what the next slide is for.</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p:txBody>
          <a:bodyPr/>
          <a:lstStyle/>
          <a:p>
            <a:r>
              <a:t>This is real data: 73 older adults from PhysioNet LTMM, one-minute lab walks with a lower-back IMU, labelled by fall history (35 fallers). Our untrained v2 gait index reaches AUC 0.686 (95% CI 0.561–0.808), with no training on labels. The clinical gold standard, Timed Up and Go, gets 0.683 on the 69 subjects who have it, and our index on those same subjects gets 0.684. So: comparable to the clinical test, not better; the confidence intervals overlap. Berg is 0.618. The small chart is the synthetic ground-truth bench: v1 overestimated variability by 6.79 points, v2 by 0.52 (correlation with truth 0.61 → 0.98). On the real walks, median variability fell from 8.36% (implausible) to 3.00%. Caveats: labels are retrospective, and the sensor is on the lower back, not a ring.</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p:txBody>
          <a:bodyPr/>
          <a:lstStyle/>
          <a:p>
            <a:r>
              <a:t>We tried hard to beat our own number, with the protocol fixed in advance. Experiment 2: seven models on the lab walks. The untrained v2 index M0 scores 0.686. Adding turn features (M1) gives 0.634. The best trained model is logistic regression on the five v2 features, M2, 0.721 ± 0.019. The pre-registered primary, M4, gets 0.651; its permutation test is p = 0.030 on a single split. Random forests get 0.593 and 0.586: more complexity did worse on 73 subjects. Experiment 3: daily-life walking from the 3-day recordings. The primary combined index D1 gets 0.636 (permutation p = 0.030), below the lab index on the same 64 subjects (0.655). Daily-life alone: D0 0.587, D2 0.519. We report all of it. That is why the headline number is trustworthy: it survived our own attempts to replace it. Cadence is the one marker that holds in both settings. Askhatova 2026 reports 0.749 with subject-wise CV, using 3-day data, demographics and a deep network; our index is untrained and fully explainable.</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p:txBody>
          <a:bodyPr/>
          <a:lstStyle/>
          <a:p>
            <a:r>
              <a:t>Same 11 scenarios for all four versions, one run each, so the rates are small counts: 3 emergencies and 8 non-emergencies. D caught 3/3, C 2/3, A and B 0/3. C missed the biometric-only case because it only reads text. No version raised a false alarm, including on “I fell asleep on the couch”. Strict grounding: D 0.979, C 0.955, A 0.723, B 0.606; A and B invent numbers because they have no data. Only D told the stale-data user that the data was old (1/1). D fetched 0.88 data streams per non-emergency reply on average versus all 12 for C. Latency: D averaged 19.61 s and C 15.98 s in this batch run, which includes rate-limit retries and D's extra router, safety and verification calls, so we do not claim D is faster. Safety widening did not fire because router confidence was 0.90–0.99 on every query; it is covered by unit tests only.</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p:txBody>
          <a:bodyPr/>
          <a:lstStyle/>
          <a:p>
            <a:r>
              <a:t>Before the review: run `py seed_fall_demo.py` in the morning (data is generated relative to today), then `py seed_fall_demo.py --fall-now` about 5 minutes before the demo, because the ring signal only looks back 30 minutes. Keep a backup video of these four steps. Step 1: Meera asks her fall risk; point to the score, the contributors, the cycle-adjustment line and that every number is grounded. Step 2: “I fell asleep on the couch” must not raise an alarm. Step 3: switch to Lakshmi and type “I'm fine, just a bit shaken”: the reply is an emergency because of the ring fall event, even though the text is calm and the LLM classifier alone did not flag it. This closes the story from the first slide. Step 4: Ravi's data is 4 days old; the reply says the estimate is less reliable and asks him to sync. Scores on the day can differ from the table on slide 12 because the demo data is generated relative to the review date.</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p:txBody>
          <a:bodyPr/>
          <a:lstStyle/>
          <a:p>
            <a:r>
              <a:t>Challenges we solved, left: rate limits, hallucinated numbers, keyword false alarms, an implausible gait detector, and the lack of a combined dataset, which we handled by validating each layer separately. Right: the limitations we state before anyone asks. The labels are retrospective; the sensor is a lower-back IMU, not the ring; the sample is small; the engine and agent are tested on a synthetic cohort; the evidence weights come from different studies; and there is no authentication yet.</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p:txBody>
          <a:bodyPr/>
          <a:lstStyle/>
          <a:p>
            <a:r>
              <a:t>The remaining 25%, scheduled up to Review-III on 28 October 2026. First, move the gait algorithm from the lower-back dataset to the phone or ring IMU, so the Motion layer uses real gait rather than step counts. Then validate the cycle layer on mcPHASES and learn the layer weights from data to compare with our evidence-derived weights. Then Flutter integration including the fall-risk card, and authentication. The last week is the final report. Dates are our proposal.</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p:txBody>
          <a:bodyPr/>
          <a:lstStyle/>
          <a:p>
            <a:r>
              <a:t>IEEE format. [1]–[10] are the Review-I papers, to be pasted. Entries marked [TO VERIFY] must be checked against the paper before submission; the volume and page details of the others should also be checked once.</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p:txBody>
          <a:bodyPr/>
          <a:lstStyle/>
          <a:p>
            <a:r>
              <a:t>Every reference is cited in the literature table (rows 11–22) or the methods; [23] is the dataset used in the real-data validation.</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p:txBody>
          <a:bodyPr/>
          <a:lstStyle/>
          <a:p>
            <a:r>
              <a:t>Thank the panel; open for questions (see docs/review2/QA_PREP.md).</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p:txBody>
          <a:bodyPr/>
          <a:lstStyle/>
          <a:p>
            <a:r>
              <a:t>Backup: the complete function-level pipeline from docs/ARCHITECTURE.md, rendered left to right and split in two. Part 1: request entry, parallel stage 1, safety fusion, selective fetch. </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p:txBody>
          <a:bodyPr/>
          <a:lstStyle/>
          <a:p>
            <a:r>
              <a:t>Backup part 2: fall-risk engine, grounded generation, strict grounding and self-verification, reply and card.</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notesSlide" Target="../notesSlides/notesSlide33.xml"/></Relationships>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2"/>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91440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MedXAI: Explainable, Safety-Aware Fall-Risk Prediction from Smart-Ring Data</a:t>
            </a:r>
            <a:endParaRPr lang="en-US" sz="3200" dirty="0"/>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Name — Reg. No.</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Guide Name, School</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Review-II  ·  30.09.2026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Introduction &amp; Problem Recap</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0" indent="0">
              <a:spcAft>
                <a:spcPts val="800"/>
              </a:spcAft>
              <a:buNone/>
            </a:pPr>
            <a:r>
              <a:rPr lang="en-US" sz="1600" dirty="0" b="1">
                <a:solidFill>
                  <a:srgbClr val="1D2F82"/>
                </a:solidFill>
                <a:latin typeface="Calibri" pitchFamily="34" charset="0"/>
                <a:ea typeface="Calibri" pitchFamily="34" charset="-122"/>
                <a:cs typeface="Calibri" pitchFamily="34" charset="-120"/>
              </a:rPr>
              <a:t>Problem recap</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Fall systems detect a fall after it happens; they do not predict or explain risk</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Health chatbots state health numbers they cannot be trusted with</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Text-only safety checks miss a fallen user who types “I'm fine”</a:t>
            </a:r>
            <a:endParaRPr lang="en-US" sz="1600" dirty="0"/>
          </a:p>
          <a:p>
            <a:pPr marL="0" indent="0">
              <a:spcAft>
                <a:spcPts val="800"/>
              </a:spcAft>
              <a:buNone/>
            </a:pPr>
            <a:r>
              <a:rPr lang="en-US" sz="1600" dirty="0" b="1">
                <a:solidFill>
                  <a:srgbClr val="1D2F82"/>
                </a:solidFill>
                <a:latin typeface="Calibri" pitchFamily="34" charset="0"/>
                <a:ea typeface="Calibri" pitchFamily="34" charset="-122"/>
                <a:cs typeface="Calibri" pitchFamily="34" charset="-120"/>
              </a:rPr>
              <a:t>Objectives</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Predict daily fall risk from ring data with a deterministic, explainable engine</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Let sensors, engine and LLM check each other before anything reaches the user</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Validate on real data against a clinical gold standard (Timed Up and Go)</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Refinements after Review-I Feedback</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graphicFrame>
        <p:nvGraphicFramePr>
          <p:cNvPr id="5" name="Table 5"/>
          <p:cNvGraphicFramePr>
            <a:graphicFrameLocks noGrp="1"/>
          </p:cNvGraphicFramePr>
          <p:nvPr>
            <p:extLst>
              <p:ext uri="{D42A27DB-BD31-4B8C-83A1-F6EECF244321}">
                <p14:modId xmlns:p14="http://schemas.microsoft.com/office/powerpoint/2010/main" val="1579011935"/>
              </p:ext>
            </p:extLst>
          </p:nvPr>
        </p:nvGraphicFramePr>
        <p:xfrm>
          <a:off x="640080" y="1325880"/>
          <a:ext cx="10881360" cy="3264408"/>
        </p:xfrm>
        <a:graphic>
          <a:graphicData uri="http://schemas.openxmlformats.org/drawingml/2006/table">
            <a:tbl>
              <a:tblPr/>
              <a:tblGrid>
                <a:gridCol w="3291840"/>
                <a:gridCol w="4754880"/>
                <a:gridCol w="2834640"/>
              </a:tblGrid>
              <a:tr h="411480">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Promised / requested at Review-I</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Delivered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Where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r>
              <a:tr h="475488">
                <a:tc>
                  <a:txBody>
                    <a:bodyPr/>
                    <a:lstStyle/>
                    <a:p>
                      <a:pPr marL="0" indent="0">
                        <a:buNone/>
                      </a:pPr>
                      <a:r>
                        <a:rPr lang="en-US" sz="1300" dirty="0" b="1">
                          <a:solidFill>
                            <a:srgbClr val="000000"/>
                          </a:solidFill>
                          <a:latin typeface="Calibri" pitchFamily="34" charset="0"/>
                          <a:ea typeface="Calibri" pitchFamily="34" charset="-122"/>
                          <a:cs typeface="Calibri" pitchFamily="34" charset="-120"/>
                        </a:rPr>
                        <a:t>Trend-deviation signal-processing layer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00" dirty="0">
                          <a:solidFill>
                            <a:srgbClr val="000000"/>
                          </a:solidFill>
                          <a:latin typeface="Calibri" pitchFamily="34" charset="0"/>
                          <a:ea typeface="Calibri" pitchFamily="34" charset="-122"/>
                          <a:cs typeface="Calibri" pitchFamily="34" charset="-120"/>
                        </a:rPr>
                        <a:t>Personal median/MAD baselines, z-score deviations, dead-zone strain</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00" dirty="0">
                          <a:solidFill>
                            <a:srgbClr val="000000"/>
                          </a:solidFill>
                          <a:latin typeface="Calibri" pitchFamily="34" charset="0"/>
                          <a:ea typeface="Calibri" pitchFamily="34" charset="-122"/>
                          <a:cs typeface="Calibri" pitchFamily="34" charset="-120"/>
                        </a:rPr>
                        <a:t>agent/fall_risk.py</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marL="0" indent="0">
                        <a:buNone/>
                      </a:pPr>
                      <a:r>
                        <a:rPr lang="en-US" sz="1300" dirty="0" b="1">
                          <a:solidFill>
                            <a:srgbClr val="000000"/>
                          </a:solidFill>
                          <a:latin typeface="Calibri" pitchFamily="34" charset="0"/>
                          <a:ea typeface="Calibri" pitchFamily="34" charset="-122"/>
                          <a:cs typeface="Calibri" pitchFamily="34" charset="-120"/>
                        </a:rPr>
                        <a:t>Self-verification loop</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00" dirty="0">
                          <a:solidFill>
                            <a:srgbClr val="000000"/>
                          </a:solidFill>
                          <a:latin typeface="Calibri" pitchFamily="34" charset="0"/>
                          <a:ea typeface="Calibri" pitchFamily="34" charset="-122"/>
                          <a:cs typeface="Calibri" pitchFamily="34" charset="-120"/>
                        </a:rPr>
                        <a:t>Strict number check vs patient data + one corrective regeneration</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00" dirty="0">
                          <a:solidFill>
                            <a:srgbClr val="000000"/>
                          </a:solidFill>
                          <a:latin typeface="Calibri" pitchFamily="34" charset="0"/>
                          <a:ea typeface="Calibri" pitchFamily="34" charset="-122"/>
                          <a:cs typeface="Calibri" pitchFamily="34" charset="-120"/>
                        </a:rPr>
                        <a:t>agent/graph.py</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marL="0" indent="0">
                        <a:buNone/>
                      </a:pPr>
                      <a:r>
                        <a:rPr lang="en-US" sz="1300" dirty="0" b="1">
                          <a:solidFill>
                            <a:srgbClr val="000000"/>
                          </a:solidFill>
                          <a:latin typeface="Calibri" pitchFamily="34" charset="0"/>
                          <a:ea typeface="Calibri" pitchFamily="34" charset="-122"/>
                          <a:cs typeface="Calibri" pitchFamily="34" charset="-120"/>
                        </a:rPr>
                        <a:t>Personal correlation detection</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00" dirty="0">
                          <a:solidFill>
                            <a:srgbClr val="000000"/>
                          </a:solidFill>
                          <a:latin typeface="Calibri" pitchFamily="34" charset="0"/>
                          <a:ea typeface="Calibri" pitchFamily="34" charset="-122"/>
                          <a:cs typeface="Calibri" pitchFamily="34" charset="-120"/>
                        </a:rPr>
                        <a:t>Pearson r on the user's own history (n ≥ 14, |r| ≥ 0.4, p &lt; 0.05)</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00" dirty="0">
                          <a:solidFill>
                            <a:srgbClr val="000000"/>
                          </a:solidFill>
                          <a:latin typeface="Calibri" pitchFamily="34" charset="0"/>
                          <a:ea typeface="Calibri" pitchFamily="34" charset="-122"/>
                          <a:cs typeface="Calibri" pitchFamily="34" charset="-120"/>
                        </a:rPr>
                        <a:t>agent/correlations.py</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marL="0" indent="0">
                        <a:buNone/>
                      </a:pPr>
                      <a:r>
                        <a:rPr lang="en-US" sz="1300" dirty="0" b="1">
                          <a:solidFill>
                            <a:srgbClr val="000000"/>
                          </a:solidFill>
                          <a:latin typeface="Calibri" pitchFamily="34" charset="0"/>
                          <a:ea typeface="Calibri" pitchFamily="34" charset="-122"/>
                          <a:cs typeface="Calibri" pitchFamily="34" charset="-120"/>
                        </a:rPr>
                        <a:t>Router confidence scoring</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00" dirty="0">
                          <a:solidFill>
                            <a:srgbClr val="000000"/>
                          </a:solidFill>
                          <a:latin typeface="Calibri" pitchFamily="34" charset="0"/>
                          <a:ea typeface="Calibri" pitchFamily="34" charset="-122"/>
                          <a:cs typeface="Calibri" pitchFamily="34" charset="-120"/>
                        </a:rPr>
                        <a:t>Confidence + safety-asymmetric widening of the data fetch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00" dirty="0">
                          <a:solidFill>
                            <a:srgbClr val="000000"/>
                          </a:solidFill>
                          <a:latin typeface="Calibri" pitchFamily="34" charset="0"/>
                          <a:ea typeface="Calibri" pitchFamily="34" charset="-122"/>
                          <a:cs typeface="Calibri" pitchFamily="34" charset="-120"/>
                        </a:rPr>
                        <a:t>agent/router.py</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marL="0" indent="0">
                        <a:buNone/>
                      </a:pPr>
                      <a:r>
                        <a:rPr lang="en-US" sz="1300" dirty="0" b="1">
                          <a:solidFill>
                            <a:srgbClr val="000000"/>
                          </a:solidFill>
                          <a:latin typeface="Calibri" pitchFamily="34" charset="0"/>
                          <a:ea typeface="Calibri" pitchFamily="34" charset="-122"/>
                          <a:cs typeface="Calibri" pitchFamily="34" charset="-120"/>
                        </a:rPr>
                        <a:t>Safety-critical application</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00" dirty="0">
                          <a:solidFill>
                            <a:srgbClr val="000000"/>
                          </a:solidFill>
                          <a:latin typeface="Calibri" pitchFamily="34" charset="0"/>
                          <a:ea typeface="Calibri" pitchFamily="34" charset="-122"/>
                          <a:cs typeface="Calibri" pitchFamily="34" charset="-120"/>
                        </a:rPr>
                        <a:t>Fall prediction: fall-risk score, fall events, fall card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00" dirty="0">
                          <a:solidFill>
                            <a:srgbClr val="000000"/>
                          </a:solidFill>
                          <a:latin typeface="Calibri" pitchFamily="34" charset="0"/>
                          <a:ea typeface="Calibri" pitchFamily="34" charset="-122"/>
                          <a:cs typeface="Calibri" pitchFamily="34" charset="-120"/>
                        </a:rPr>
                        <a:t>agent/fall_risk.py, graph.py</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marL="0" indent="0">
                        <a:buNone/>
                      </a:pPr>
                      <a:r>
                        <a:rPr lang="en-US" sz="1300" dirty="0" b="1">
                          <a:solidFill>
                            <a:srgbClr val="000000"/>
                          </a:solidFill>
                          <a:latin typeface="Calibri" pitchFamily="34" charset="0"/>
                          <a:ea typeface="Calibri" pitchFamily="34" charset="-122"/>
                          <a:cs typeface="Calibri" pitchFamily="34" charset="-120"/>
                        </a:rPr>
                        <a:t>Deeper signal processing (guide)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00" dirty="0">
                          <a:solidFill>
                            <a:srgbClr val="000000"/>
                          </a:solidFill>
                          <a:latin typeface="Calibri" pitchFamily="34" charset="0"/>
                          <a:ea typeface="Calibri" pitchFamily="34" charset="-122"/>
                          <a:cs typeface="Calibri" pitchFamily="34" charset="-120"/>
                        </a:rPr>
                        <a:t>Gait pipeline v2: turn removal, McCamley contacts, stride CV</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00" dirty="0">
                          <a:solidFill>
                            <a:srgbClr val="000000"/>
                          </a:solidFill>
                          <a:latin typeface="Calibri" pitchFamily="34" charset="0"/>
                          <a:ea typeface="Calibri" pitchFamily="34" charset="-122"/>
                          <a:cs typeface="Calibri" pitchFamily="34" charset="-120"/>
                        </a:rPr>
                        <a:t>agent/gait_features.py</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Literature Review (1/3): Review-I Papers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graphicFrame>
        <p:nvGraphicFramePr>
          <p:cNvPr id="5" name="Table 5"/>
          <p:cNvGraphicFramePr>
            <a:graphicFrameLocks noGrp="1"/>
          </p:cNvGraphicFramePr>
          <p:nvPr>
            <p:extLst>
              <p:ext uri="{D42A27DB-BD31-4B8C-83A1-F6EECF244321}">
                <p14:modId xmlns:p14="http://schemas.microsoft.com/office/powerpoint/2010/main" val="1579011935"/>
              </p:ext>
            </p:extLst>
          </p:nvPr>
        </p:nvGraphicFramePr>
        <p:xfrm>
          <a:off x="548640" y="1325880"/>
          <a:ext cx="11091672" cy="4069080"/>
        </p:xfrm>
        <a:graphic>
          <a:graphicData uri="http://schemas.openxmlformats.org/drawingml/2006/table">
            <a:tbl>
              <a:tblPr/>
              <a:tblGrid>
                <a:gridCol w="457200"/>
                <a:gridCol w="2377440"/>
                <a:gridCol w="2743200"/>
                <a:gridCol w="2194560"/>
                <a:gridCol w="3319272"/>
              </a:tblGrid>
              <a:tr h="411480">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No.</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Author(s) &amp; Year</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Title / Source</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Method / Approach</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Findings &amp; Research Gap</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r>
              <a:tr h="365760">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{{Review-I paper 1}}</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65760">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{{Review-I paper 2}}</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65760">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{{Review-I paper 3}}</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65760">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{{Review-I paper 4}}</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65760">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{{Review-I paper 5}}</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65760">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6</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{{Review-I paper 6}}</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65760">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7</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{{Review-I paper 7}}</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65760">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8</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{{Review-I paper 8}}</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65760">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{{Review-I paper 9}}</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65760">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{{Review-I paper 10}}</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6" name="TextBox 5"/>
          <p:cNvSpPr txBox="1"/>
          <p:nvPr/>
        </p:nvSpPr>
        <p:spPr>
          <a:xfrm>
            <a:off x="548640" y="6053328"/>
            <a:ext cx="11064240" cy="411480"/>
          </a:xfrm>
          <a:prstGeom prst="rect">
            <a:avLst/>
          </a:prstGeom>
          <a:noFill/>
        </p:spPr>
        <p:txBody>
          <a:bodyPr wrap="square" lIns="45720" rIns="45720">
            <a:spAutoFit/>
          </a:bodyPr>
          <a:lstStyle/>
          <a:p>
            <a:pPr>
              <a:spcAft>
                <a:spcPts val="600"/>
              </a:spcAft>
            </a:pPr>
            <a:r>
              <a:rPr sz="1100" b="0">
                <a:solidFill>
                  <a:srgbClr val="595959"/>
                </a:solidFill>
                <a:latin typeface="Calibri"/>
              </a:rPr>
              <a:t>Papers 1–10: the ten Review-I papers (to be pasted). Papers 11–22: added for Review-II.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Literature Review (2/3): Fall Risk &amp; Gait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graphicFrame>
        <p:nvGraphicFramePr>
          <p:cNvPr id="5" name="Table 5"/>
          <p:cNvGraphicFramePr>
            <a:graphicFrameLocks noGrp="1"/>
          </p:cNvGraphicFramePr>
          <p:nvPr>
            <p:extLst>
              <p:ext uri="{D42A27DB-BD31-4B8C-83A1-F6EECF244321}">
                <p14:modId xmlns:p14="http://schemas.microsoft.com/office/powerpoint/2010/main" val="1579011935"/>
              </p:ext>
            </p:extLst>
          </p:nvPr>
        </p:nvGraphicFramePr>
        <p:xfrm>
          <a:off x="548640" y="1325880"/>
          <a:ext cx="11091672" cy="4581144"/>
        </p:xfrm>
        <a:graphic>
          <a:graphicData uri="http://schemas.openxmlformats.org/drawingml/2006/table">
            <a:tbl>
              <a:tblPr/>
              <a:tblGrid>
                <a:gridCol w="457200"/>
                <a:gridCol w="1737360"/>
                <a:gridCol w="3017520"/>
                <a:gridCol w="2286000"/>
                <a:gridCol w="3593592"/>
              </a:tblGrid>
              <a:tr h="411480">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No.</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Author(s) &amp; Year</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Title / Source</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Method / Approach</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Findings &amp; Research Gap</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r>
              <a:tr h="694944">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11</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Deandrea et al., 2010</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Risk factors for falls in community-dwelling older people / Epidemiology</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Systematic review + meta-analysis</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History of falls OR 2.8, gait problems OR 2.1. Gap: population-level risk, no personal daily trend</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94944">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12</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Hausdorff et al., 2001</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Gait variability and fall risk… 1-year prospective study / Arch Phys Med Rehabil</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Prospective cohort, stride-time variability</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Stride-time variability predicts future falls. Gap: lab measurement, not continuous wearable</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94944">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13</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[TO VERIFY: authors], JAMDA</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Orthostatic hypotension and falls meta-analysis / J Am Med Dir Assoc</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Meta-analysis</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Orthostatic hypotension OR 1.73 for falls. Gap: one-off BP test, not daily physiology</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94944">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14</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SWAN [TO VERIFY: authors], 2024</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Sleep and falls (SWAN cohort) / Innovation in Aging</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Cohort study</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Poor sleep RR 1.27 for falls. Gap: questionnaire sleep, not ring-measured</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94944">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15</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Mishra, Snyder et al., 2020</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Pre-symptomatic detection of COVID-19 from smartwatch data / Nat Biomed Eng</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Personal-baseline deviation detection</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Deviations from a personal baseline flag illness early. Gap: not falls, no explanation</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94944">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16</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[TO VERIFY: authors], 2022</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Oura ring across the menstrual cycle / Int J Women's Health</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Ring skin temperature, HR, HRV by cycle phase</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Luteal phase shifts temperature and resting HR. Gap: not used in risk baselines</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6" name="TextBox 5"/>
          <p:cNvSpPr txBox="1"/>
          <p:nvPr/>
        </p:nvSpPr>
        <p:spPr>
          <a:xfrm>
            <a:off x="548640" y="6053328"/>
            <a:ext cx="11064240" cy="411480"/>
          </a:xfrm>
          <a:prstGeom prst="rect">
            <a:avLst/>
          </a:prstGeom>
          <a:noFill/>
        </p:spPr>
        <p:txBody>
          <a:bodyPr wrap="square" lIns="45720" rIns="45720">
            <a:spAutoFit/>
          </a:bodyPr>
          <a:lstStyle/>
          <a:p>
            <a:pPr>
              <a:spcAft>
                <a:spcPts val="600"/>
              </a:spcAft>
            </a:pPr>
            <a:r>
              <a:rPr sz="1100" b="0">
                <a:solidFill>
                  <a:srgbClr val="595959"/>
                </a:solidFill>
                <a:latin typeface="Calibri"/>
              </a:rPr>
              <a:t>[TO VERIFY] = bibliographic detail still to be checked against the paper.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Literature Review (3/3): Fall Risk &amp; Gait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graphicFrame>
        <p:nvGraphicFramePr>
          <p:cNvPr id="5" name="Table 5"/>
          <p:cNvGraphicFramePr>
            <a:graphicFrameLocks noGrp="1"/>
          </p:cNvGraphicFramePr>
          <p:nvPr>
            <p:extLst>
              <p:ext uri="{D42A27DB-BD31-4B8C-83A1-F6EECF244321}">
                <p14:modId xmlns:p14="http://schemas.microsoft.com/office/powerpoint/2010/main" val="1579011935"/>
              </p:ext>
            </p:extLst>
          </p:nvPr>
        </p:nvGraphicFramePr>
        <p:xfrm>
          <a:off x="548640" y="1325880"/>
          <a:ext cx="11091672" cy="4581144"/>
        </p:xfrm>
        <a:graphic>
          <a:graphicData uri="http://schemas.openxmlformats.org/drawingml/2006/table">
            <a:tbl>
              <a:tblPr/>
              <a:tblGrid>
                <a:gridCol w="457200"/>
                <a:gridCol w="1737360"/>
                <a:gridCol w="3017520"/>
                <a:gridCol w="2286000"/>
                <a:gridCol w="3593592"/>
              </a:tblGrid>
              <a:tr h="411480">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No.</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Author(s) &amp; Year</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Title / Source</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Method / Approach</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Findings &amp; Research Gap</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r>
              <a:tr h="694944">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17</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[TO VERIFY], 2026</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Wearable HRV across the menstrual cycle: living systematic review / Sports Med</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Living systematic review</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HRV varies with cycle phase. Gap: wearable scores ignore phase</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94944">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18</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Askhatova et al., 2026</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[TO VERIFY: title] / MethodsX</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Temporal CNN on LTMM, subject-wise CV</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AUC 0.749 using 1-min + 3-day data + demographics. Gap: black box, no explanation</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94944">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19</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Weiss et al., 2013</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Gait quality during daily life and fall risk (3-day recordings) / Neurorehabil Neural Repair</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LTMM study: 3-day lower-back accelerometer</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Daily-life gait differs in fallers. Gap: no personal agent or explanation</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94944">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McCamley et al., 2012</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Initial and final contact from lower-trunk inertial data / Gait &amp; Posture</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Gaussian-derivative initial-contact detection</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Accurate step timing from one trunk IMU. Gap: detection only</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94944">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21</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Moe-Nilssen &amp; Helbostad, 2004 [TO VERIFY]</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Gait cycle characteristics by trunk accelerometry / J Biomech</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Autocorrelation step/stride regularity</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Regularity from one sensor. Gap: method only, no risk model</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94944">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22</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Drover et al., 2017</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Faller classification from turn and straight-walking features / Sensors</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Turn vs straight-walking accelerometer features</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Turn features help classify fallers. Gap: not replicated on our data</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6" name="TextBox 5"/>
          <p:cNvSpPr txBox="1"/>
          <p:nvPr/>
        </p:nvSpPr>
        <p:spPr>
          <a:xfrm>
            <a:off x="548640" y="6053328"/>
            <a:ext cx="11064240" cy="411480"/>
          </a:xfrm>
          <a:prstGeom prst="rect">
            <a:avLst/>
          </a:prstGeom>
          <a:noFill/>
        </p:spPr>
        <p:txBody>
          <a:bodyPr wrap="square" lIns="45720" rIns="45720">
            <a:spAutoFit/>
          </a:bodyPr>
          <a:lstStyle/>
          <a:p>
            <a:pPr>
              <a:spcAft>
                <a:spcPts val="600"/>
              </a:spcAft>
            </a:pPr>
            <a:r>
              <a:rPr sz="1100" b="0">
                <a:solidFill>
                  <a:srgbClr val="595959"/>
                </a:solidFill>
                <a:latin typeface="Calibri"/>
              </a:rPr>
              <a:t>[TO VERIFY] = bibliographic detail still to be checked against the paper.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Research Gaps Identified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graphicFrame>
        <p:nvGraphicFramePr>
          <p:cNvPr id="5" name="Table 5"/>
          <p:cNvGraphicFramePr>
            <a:graphicFrameLocks noGrp="1"/>
          </p:cNvGraphicFramePr>
          <p:nvPr>
            <p:extLst>
              <p:ext uri="{D42A27DB-BD31-4B8C-83A1-F6EECF244321}">
                <p14:modId xmlns:p14="http://schemas.microsoft.com/office/powerpoint/2010/main" val="1579011935"/>
              </p:ext>
            </p:extLst>
          </p:nvPr>
        </p:nvGraphicFramePr>
        <p:xfrm>
          <a:off x="640080" y="1463040"/>
          <a:ext cx="10881359" cy="3703320"/>
        </p:xfrm>
        <a:graphic>
          <a:graphicData uri="http://schemas.openxmlformats.org/drawingml/2006/table">
            <a:tbl>
              <a:tblPr/>
              <a:tblGrid>
                <a:gridCol w="5120640"/>
                <a:gridCol w="5760720"/>
              </a:tblGrid>
              <a:tr h="411480">
                <a:tc>
                  <a:txBody>
                    <a:bodyPr/>
                    <a:lstStyle/>
                    <a:p>
                      <a:pPr marL="0" indent="0">
                        <a:buNone/>
                      </a:pPr>
                      <a:r>
                        <a:rPr lang="en-US" sz="1500" b="1" dirty="0">
                          <a:solidFill>
                            <a:srgbClr val="FFFFFF"/>
                          </a:solidFill>
                          <a:latin typeface="Calibri" pitchFamily="34" charset="0"/>
                          <a:ea typeface="Calibri" pitchFamily="34" charset="-122"/>
                          <a:cs typeface="Calibri" pitchFamily="34" charset="-120"/>
                        </a:rPr>
                        <a:t>Gap in existing work</a:t>
                      </a:r>
                      <a:endParaRPr lang="en-US" sz="15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500" b="1" dirty="0">
                          <a:solidFill>
                            <a:srgbClr val="FFFFFF"/>
                          </a:solidFill>
                          <a:latin typeface="Calibri" pitchFamily="34" charset="0"/>
                          <a:ea typeface="Calibri" pitchFamily="34" charset="-122"/>
                          <a:cs typeface="Calibri" pitchFamily="34" charset="-120"/>
                        </a:rPr>
                        <a:t>How MedXAI addresses it</a:t>
                      </a:r>
                      <a:endParaRPr lang="en-US" sz="15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r>
              <a:tr h="822960">
                <a:tc>
                  <a:txBody>
                    <a:bodyPr/>
                    <a:lstStyle/>
                    <a:p>
                      <a:pPr marL="0" indent="0">
                        <a:buNone/>
                      </a:pPr>
                      <a:r>
                        <a:rPr lang="en-US" sz="1500" dirty="0">
                          <a:solidFill>
                            <a:srgbClr val="000000"/>
                          </a:solidFill>
                          <a:latin typeface="Calibri" pitchFamily="34" charset="0"/>
                          <a:ea typeface="Calibri" pitchFamily="34" charset="-122"/>
                          <a:cs typeface="Calibri" pitchFamily="34" charset="-120"/>
                        </a:rPr>
                        <a:t>Fall systems detect falls but do not predict or explain risk</a:t>
                      </a:r>
                      <a:endParaRPr lang="en-US" sz="15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500" dirty="0">
                          <a:solidFill>
                            <a:srgbClr val="000000"/>
                          </a:solidFill>
                          <a:latin typeface="Calibri" pitchFamily="34" charset="0"/>
                          <a:ea typeface="Calibri" pitchFamily="34" charset="-122"/>
                          <a:cs typeface="Calibri" pitchFamily="34" charset="-120"/>
                        </a:rPr>
                        <a:t>Daily fall-risk score with per-feature contributions</a:t>
                      </a:r>
                      <a:endParaRPr lang="en-US" sz="15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822960">
                <a:tc>
                  <a:txBody>
                    <a:bodyPr/>
                    <a:lstStyle/>
                    <a:p>
                      <a:pPr marL="0" indent="0">
                        <a:buNone/>
                      </a:pPr>
                      <a:r>
                        <a:rPr lang="en-US" sz="1500" dirty="0">
                          <a:solidFill>
                            <a:srgbClr val="000000"/>
                          </a:solidFill>
                          <a:latin typeface="Calibri" pitchFamily="34" charset="0"/>
                          <a:ea typeface="Calibri" pitchFamily="34" charset="-122"/>
                          <a:cs typeface="Calibri" pitchFamily="34" charset="-120"/>
                        </a:rPr>
                        <a:t>Best fall-risk models are black boxes</a:t>
                      </a:r>
                      <a:endParaRPr lang="en-US" sz="15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500" dirty="0">
                          <a:solidFill>
                            <a:srgbClr val="000000"/>
                          </a:solidFill>
                          <a:latin typeface="Calibri" pitchFamily="34" charset="0"/>
                          <a:ea typeface="Calibri" pitchFamily="34" charset="-122"/>
                          <a:cs typeface="Calibri" pitchFamily="34" charset="-120"/>
                        </a:rPr>
                        <a:t>Deterministic engine; the LLM only explains its numbers</a:t>
                      </a:r>
                      <a:endParaRPr lang="en-US" sz="15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822960">
                <a:tc>
                  <a:txBody>
                    <a:bodyPr/>
                    <a:lstStyle/>
                    <a:p>
                      <a:pPr marL="0" indent="0">
                        <a:buNone/>
                      </a:pPr>
                      <a:r>
                        <a:rPr lang="en-US" sz="1500" dirty="0">
                          <a:solidFill>
                            <a:srgbClr val="000000"/>
                          </a:solidFill>
                          <a:latin typeface="Calibri" pitchFamily="34" charset="0"/>
                          <a:ea typeface="Calibri" pitchFamily="34" charset="-122"/>
                          <a:cs typeface="Calibri" pitchFamily="34" charset="-120"/>
                        </a:rPr>
                        <a:t>Health agents check safety from text only</a:t>
                      </a:r>
                      <a:endParaRPr lang="en-US" sz="15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500" dirty="0">
                          <a:solidFill>
                            <a:srgbClr val="000000"/>
                          </a:solidFill>
                          <a:latin typeface="Calibri" pitchFamily="34" charset="0"/>
                          <a:ea typeface="Calibri" pitchFamily="34" charset="-122"/>
                          <a:cs typeface="Calibri" pitchFamily="34" charset="-120"/>
                        </a:rPr>
                        <a:t>Tri-modal fusion: keyword + LLM + ring fall event</a:t>
                      </a:r>
                      <a:endParaRPr lang="en-US" sz="15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822960">
                <a:tc>
                  <a:txBody>
                    <a:bodyPr/>
                    <a:lstStyle/>
                    <a:p>
                      <a:pPr marL="0" indent="0">
                        <a:buNone/>
                      </a:pPr>
                      <a:r>
                        <a:rPr lang="en-US" sz="1500" dirty="0">
                          <a:solidFill>
                            <a:srgbClr val="000000"/>
                          </a:solidFill>
                          <a:latin typeface="Calibri" pitchFamily="34" charset="0"/>
                          <a:ea typeface="Calibri" pitchFamily="34" charset="-122"/>
                          <a:cs typeface="Calibri" pitchFamily="34" charset="-120"/>
                        </a:rPr>
                        <a:t>No cycle-aware baselines in wearable risk scores</a:t>
                      </a:r>
                      <a:endParaRPr lang="en-US" sz="15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500" dirty="0">
                          <a:solidFill>
                            <a:srgbClr val="000000"/>
                          </a:solidFill>
                          <a:latin typeface="Calibri" pitchFamily="34" charset="0"/>
                          <a:ea typeface="Calibri" pitchFamily="34" charset="-122"/>
                          <a:cs typeface="Calibri" pitchFamily="34" charset="-120"/>
                        </a:rPr>
                        <a:t>Phase-matched baselines for HRV, resting HR, temperature</a:t>
                      </a:r>
                      <a:endParaRPr lang="en-US" sz="15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Novelty: Existing → Ours → Proof</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graphicFrame>
        <p:nvGraphicFramePr>
          <p:cNvPr id="5" name="Table 5"/>
          <p:cNvGraphicFramePr>
            <a:graphicFrameLocks noGrp="1"/>
          </p:cNvGraphicFramePr>
          <p:nvPr>
            <p:extLst>
              <p:ext uri="{D42A27DB-BD31-4B8C-83A1-F6EECF244321}">
                <p14:modId xmlns:p14="http://schemas.microsoft.com/office/powerpoint/2010/main" val="1579011935"/>
              </p:ext>
            </p:extLst>
          </p:nvPr>
        </p:nvGraphicFramePr>
        <p:xfrm>
          <a:off x="548640" y="1234440"/>
          <a:ext cx="11091672" cy="3886200"/>
        </p:xfrm>
        <a:graphic>
          <a:graphicData uri="http://schemas.openxmlformats.org/drawingml/2006/table">
            <a:tbl>
              <a:tblPr/>
              <a:tblGrid>
                <a:gridCol w="2148840"/>
                <a:gridCol w="2377440"/>
                <a:gridCol w="3017520"/>
                <a:gridCol w="3547872"/>
              </a:tblGrid>
              <a:tr h="411480">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Contribution</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Existing</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Ours</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Proof (our data)</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r>
              <a:tr h="868680">
                <a:tc>
                  <a:txBody>
                    <a:bodyPr/>
                    <a:lstStyle/>
                    <a:p>
                      <a:pPr marL="0" indent="0">
                        <a:buNone/>
                      </a:pPr>
                      <a:r>
                        <a:rPr lang="en-US" sz="1200" dirty="0" b="1">
                          <a:solidFill>
                            <a:srgbClr val="000000"/>
                          </a:solidFill>
                          <a:latin typeface="Calibri" pitchFamily="34" charset="0"/>
                          <a:ea typeface="Calibri" pitchFamily="34" charset="-122"/>
                          <a:cs typeface="Calibri" pitchFamily="34" charset="-120"/>
                        </a:rPr>
                        <a:t>1. Tri-modal safety fusion</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Keyword or LLM reads the text only</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Keyword + LLM + ring fall event (last 30 min), fused</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Emergencies caught: D 3/3 (incl. biometric-only), C 2/3, A 0/3, B 0/3</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868680">
                <a:tc>
                  <a:txBody>
                    <a:bodyPr/>
                    <a:lstStyle/>
                    <a:p>
                      <a:pPr marL="0" indent="0">
                        <a:buNone/>
                      </a:pPr>
                      <a:r>
                        <a:rPr lang="en-US" sz="1200" dirty="0" b="1">
                          <a:solidFill>
                            <a:srgbClr val="000000"/>
                          </a:solidFill>
                          <a:latin typeface="Calibri" pitchFamily="34" charset="0"/>
                          <a:ea typeface="Calibri" pitchFamily="34" charset="-122"/>
                          <a:cs typeface="Calibri" pitchFamily="34" charset="-120"/>
                        </a:rPr>
                        <a:t>2. Compute-then-explain, closed-loop grounding</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LLM generates health numbers</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Engine computes; LLM explains; every number checked, one corrective retry</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Strict grounding D 0.979 vs A 0.723, B 0.606; self-verification 0.80 → 1.00</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868680">
                <a:tc>
                  <a:txBody>
                    <a:bodyPr/>
                    <a:lstStyle/>
                    <a:p>
                      <a:pPr marL="0" indent="0">
                        <a:buNone/>
                      </a:pPr>
                      <a:r>
                        <a:rPr lang="en-US" sz="1200" dirty="0" b="1">
                          <a:solidFill>
                            <a:srgbClr val="000000"/>
                          </a:solidFill>
                          <a:latin typeface="Calibri" pitchFamily="34" charset="0"/>
                          <a:ea typeface="Calibri" pitchFamily="34" charset="-122"/>
                          <a:cs typeface="Calibri" pitchFamily="34" charset="-120"/>
                        </a:rPr>
                        <a:t>3. Evidence-derived weights</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Hand-tuned or learned black-box weights</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λ ∝ ln(published risk ratio), renormalised by coverage</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FH 0.402 (OR 2.8), MO 0.290 (OR 2.1), P 0.214 (OR 1.73), RC 0.093 (RR 1.27)</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868680">
                <a:tc>
                  <a:txBody>
                    <a:bodyPr/>
                    <a:lstStyle/>
                    <a:p>
                      <a:pPr marL="0" indent="0">
                        <a:buNone/>
                      </a:pPr>
                      <a:r>
                        <a:rPr lang="en-US" sz="1200" dirty="0" b="1">
                          <a:solidFill>
                            <a:srgbClr val="000000"/>
                          </a:solidFill>
                          <a:latin typeface="Calibri" pitchFamily="34" charset="0"/>
                          <a:ea typeface="Calibri" pitchFamily="34" charset="-122"/>
                          <a:cs typeface="Calibri" pitchFamily="34" charset="-120"/>
                        </a:rPr>
                        <a:t>4. Cycle-aware baselines</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One baseline for every day</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Phase-matched baseline for HRV, resting HR, temperature</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Healthy luteal user: physiology risk 18.1 → 10.2; strained user: flagged days 2 → 0</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6" name="TextBox 5"/>
          <p:cNvSpPr txBox="1"/>
          <p:nvPr/>
        </p:nvSpPr>
        <p:spPr>
          <a:xfrm>
            <a:off x="548640" y="6053328"/>
            <a:ext cx="11064240" cy="411480"/>
          </a:xfrm>
          <a:prstGeom prst="rect">
            <a:avLst/>
          </a:prstGeom>
          <a:noFill/>
        </p:spPr>
        <p:txBody>
          <a:bodyPr wrap="square" lIns="45720" rIns="45720">
            <a:spAutoFit/>
          </a:bodyPr>
          <a:lstStyle/>
          <a:p>
            <a:pPr>
              <a:spcAft>
                <a:spcPts val="600"/>
              </a:spcAft>
            </a:pPr>
            <a:r>
              <a:rPr sz="1100" b="0">
                <a:solidFill>
                  <a:srgbClr val="595959"/>
                </a:solidFill>
                <a:latin typeface="Calibri"/>
              </a:rPr>
              <a:t>Additional safeguard (unit-tested): safety-asymmetric routing. It did not fire in the evaluation (router confidence 0.90–0.99).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Design &amp; Architecture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architecture_slide.png"/>
          <p:cNvPicPr>
            <a:picLocks noChangeAspect="1"/>
          </p:cNvPicPr>
          <p:nvPr/>
        </p:nvPicPr>
        <p:blipFill>
          <a:blip r:embed="rId3"/>
          <a:stretch>
            <a:fillRect/>
          </a:stretch>
        </p:blipFill>
        <p:spPr>
          <a:xfrm>
            <a:off x="457200" y="1118379"/>
            <a:ext cx="11274552" cy="3889720"/>
          </a:xfrm>
          <a:prstGeom prst="rect">
            <a:avLst/>
          </a:prstGeom>
        </p:spPr>
      </p:pic>
      <p:sp>
        <p:nvSpPr>
          <p:cNvPr id="6" name="TextBox 5"/>
          <p:cNvSpPr txBox="1"/>
          <p:nvPr/>
        </p:nvSpPr>
        <p:spPr>
          <a:xfrm>
            <a:off x="548640" y="5212080"/>
            <a:ext cx="3514344" cy="1005840"/>
          </a:xfrm>
          <a:prstGeom prst="rect">
            <a:avLst/>
          </a:prstGeom>
          <a:solidFill>
            <a:srgbClr val="EEF1FA"/>
          </a:solidFill>
        </p:spPr>
        <p:txBody>
          <a:bodyPr wrap="square" lIns="109728" rIns="109728" tIns="109728" bIns="109728">
            <a:spAutoFit/>
          </a:bodyPr>
          <a:lstStyle/>
          <a:p>
            <a:pPr>
              <a:spcAft>
                <a:spcPts val="600"/>
              </a:spcAft>
            </a:pPr>
            <a:r>
              <a:rPr sz="1400" b="1">
                <a:solidFill>
                  <a:srgbClr val="1D2F82"/>
                </a:solidFill>
                <a:latin typeface="Calibri"/>
              </a:rPr>
              <a:t>Engine computes</a:t>
            </a:r>
          </a:p>
          <a:p>
            <a:pPr>
              <a:spcAft>
                <a:spcPts val="600"/>
              </a:spcAft>
            </a:pPr>
            <a:r>
              <a:rPr sz="1400" b="0">
                <a:solidFill>
                  <a:srgbClr val="000000"/>
                </a:solidFill>
                <a:latin typeface="Calibri"/>
              </a:rPr>
              <a:t>Scores come from agent/fall_risk.py, never from the LLM</a:t>
            </a:r>
          </a:p>
        </p:txBody>
      </p:sp>
      <p:sp>
        <p:nvSpPr>
          <p:cNvPr id="7" name="TextBox 6"/>
          <p:cNvSpPr txBox="1"/>
          <p:nvPr/>
        </p:nvSpPr>
        <p:spPr>
          <a:xfrm>
            <a:off x="4337304" y="5212080"/>
            <a:ext cx="3514344" cy="1005840"/>
          </a:xfrm>
          <a:prstGeom prst="rect">
            <a:avLst/>
          </a:prstGeom>
          <a:solidFill>
            <a:srgbClr val="EEF1FA"/>
          </a:solidFill>
        </p:spPr>
        <p:txBody>
          <a:bodyPr wrap="square" lIns="109728" rIns="109728" tIns="109728" bIns="109728">
            <a:spAutoFit/>
          </a:bodyPr>
          <a:lstStyle/>
          <a:p>
            <a:pPr>
              <a:spcAft>
                <a:spcPts val="600"/>
              </a:spcAft>
            </a:pPr>
            <a:r>
              <a:rPr sz="1400" b="1">
                <a:solidFill>
                  <a:srgbClr val="1D2F82"/>
                </a:solidFill>
                <a:latin typeface="Calibri"/>
              </a:rPr>
              <a:t>LLM only explains</a:t>
            </a:r>
          </a:p>
          <a:p>
            <a:pPr>
              <a:spcAft>
                <a:spcPts val="600"/>
              </a:spcAft>
            </a:pPr>
            <a:r>
              <a:rPr sz="1400" b="0">
                <a:solidFill>
                  <a:srgbClr val="000000"/>
                </a:solidFill>
                <a:latin typeface="Calibri"/>
              </a:rPr>
              <a:t>Every number is checked against patient data before sending</a:t>
            </a:r>
          </a:p>
        </p:txBody>
      </p:sp>
      <p:sp>
        <p:nvSpPr>
          <p:cNvPr id="8" name="TextBox 7"/>
          <p:cNvSpPr txBox="1"/>
          <p:nvPr/>
        </p:nvSpPr>
        <p:spPr>
          <a:xfrm>
            <a:off x="8125968" y="5212080"/>
            <a:ext cx="3514344" cy="1005840"/>
          </a:xfrm>
          <a:prstGeom prst="rect">
            <a:avLst/>
          </a:prstGeom>
          <a:solidFill>
            <a:srgbClr val="EEF1FA"/>
          </a:solidFill>
        </p:spPr>
        <p:txBody>
          <a:bodyPr wrap="square" lIns="109728" rIns="109728" tIns="109728" bIns="109728">
            <a:spAutoFit/>
          </a:bodyPr>
          <a:lstStyle/>
          <a:p>
            <a:pPr>
              <a:spcAft>
                <a:spcPts val="600"/>
              </a:spcAft>
            </a:pPr>
            <a:r>
              <a:rPr sz="1400" b="1">
                <a:solidFill>
                  <a:srgbClr val="1D2F82"/>
                </a:solidFill>
                <a:latin typeface="Calibri"/>
              </a:rPr>
              <a:t>Ring can override chat</a:t>
            </a:r>
          </a:p>
          <a:p>
            <a:pPr>
              <a:spcAft>
                <a:spcPts val="600"/>
              </a:spcAft>
            </a:pPr>
            <a:r>
              <a:rPr sz="1400" b="0">
                <a:solidFill>
                  <a:srgbClr val="000000"/>
                </a:solidFill>
                <a:latin typeface="Calibri"/>
              </a:rPr>
              <a:t>An uncancelled ring fall event (last 30 min) forces an emergency reply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Implementation (1/2): Fall-Risk Engine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 2"/>
          <p:cNvSpPr txBox="1"/>
          <p:nvPr/>
        </p:nvSpPr>
        <p:spPr>
          <a:xfrm>
            <a:off x="640080" y="1234440"/>
            <a:ext cx="5669280" cy="4937760"/>
          </a:xfrm>
          <a:prstGeom prst="rect">
            <a:avLst/>
          </a:prstGeom>
          <a:noFill/>
          <a:ln/>
        </p:spPr>
        <p:txBody>
          <a:bodyPr wrap="square" lIns="0" tIns="0" rIns="0" bIns="0" rtlCol="0" anchor="t"/>
          <a:lstStyle/>
          <a:p>
            <a:pPr marL="0" indent="0">
              <a:spcAft>
                <a:spcPts val="800"/>
              </a:spcAft>
              <a:buNone/>
            </a:pPr>
            <a:r>
              <a:rPr lang="en-US" sz="1400" dirty="0" b="1">
                <a:solidFill>
                  <a:srgbClr val="1D2F82"/>
                </a:solidFill>
                <a:latin typeface="Calibri" pitchFamily="34" charset="0"/>
                <a:ea typeface="Calibri" pitchFamily="34" charset="-122"/>
                <a:cs typeface="Calibri" pitchFamily="34" charset="-120"/>
              </a:rPr>
              <a:t>Personal baseline and deviation</a:t>
            </a:r>
            <a:endParaRPr lang="en-US" sz="1600" dirty="0"/>
          </a:p>
          <a:p>
            <a:pPr marL="177800" indent="-177800">
              <a:spcAft>
                <a:spcPts val="800"/>
              </a:spcAft>
              <a:buSzPct val="100000"/>
              <a:buChar char="•"/>
            </a:pPr>
            <a:r>
              <a:rPr lang="en-US" sz="1400" dirty="0">
                <a:solidFill>
                  <a:srgbClr val="000000"/>
                </a:solidFill>
                <a:latin typeface="Calibri" pitchFamily="34" charset="0"/>
                <a:ea typeface="Calibri" pitchFamily="34" charset="-122"/>
                <a:cs typeface="Calibri" pitchFamily="34" charset="-120"/>
              </a:rPr>
              <a:t>Median / MAD of the previous 28 days (≥ 7 days)</a:t>
            </a:r>
            <a:endParaRPr lang="en-US" sz="1600" dirty="0"/>
          </a:p>
          <a:p>
            <a:pPr marL="177800" indent="-177800">
              <a:spcAft>
                <a:spcPts val="800"/>
              </a:spcAft>
              <a:buSzPct val="100000"/>
              <a:buChar char="•"/>
            </a:pPr>
            <a:r>
              <a:rPr lang="en-US" sz="1400" dirty="0">
                <a:solidFill>
                  <a:srgbClr val="000000"/>
                </a:solidFill>
                <a:latin typeface="Calibri" pitchFamily="34" charset="0"/>
                <a:ea typeface="Calibri" pitchFamily="34" charset="-122"/>
                <a:cs typeface="Calibri" pitchFamily="34" charset="-120"/>
              </a:rPr>
              <a:t>z = (today − median) / (1.4826·MAD), in the risk direction</a:t>
            </a:r>
            <a:endParaRPr lang="en-US" sz="1600" dirty="0"/>
          </a:p>
          <a:p>
            <a:pPr marL="177800" indent="-177800">
              <a:spcAft>
                <a:spcPts val="800"/>
              </a:spcAft>
              <a:buSzPct val="100000"/>
              <a:buChar char="•"/>
            </a:pPr>
            <a:r>
              <a:rPr lang="en-US" sz="1400" dirty="0">
                <a:solidFill>
                  <a:srgbClr val="000000"/>
                </a:solidFill>
                <a:latin typeface="Calibri" pitchFamily="34" charset="0"/>
                <a:ea typeface="Calibri" pitchFamily="34" charset="-122"/>
                <a:cs typeface="Calibri" pitchFamily="34" charset="-120"/>
              </a:rPr>
              <a:t>Strain 0–100: dead zone below z = 0.5, full at z = 3</a:t>
            </a:r>
            <a:endParaRPr lang="en-US" sz="1600" dirty="0"/>
          </a:p>
          <a:p>
            <a:pPr marL="0" indent="0">
              <a:spcAft>
                <a:spcPts val="800"/>
              </a:spcAft>
              <a:buNone/>
            </a:pPr>
            <a:r>
              <a:rPr lang="en-US" sz="1400" dirty="0" b="1">
                <a:solidFill>
                  <a:srgbClr val="1D2F82"/>
                </a:solidFill>
                <a:latin typeface="Calibri" pitchFamily="34" charset="0"/>
                <a:ea typeface="Calibri" pitchFamily="34" charset="-122"/>
                <a:cs typeface="Calibri" pitchFamily="34" charset="-120"/>
              </a:rPr>
              <a:t>Four layers → score</a:t>
            </a:r>
            <a:endParaRPr lang="en-US" sz="1600" dirty="0"/>
          </a:p>
          <a:p>
            <a:pPr marL="177800" indent="-177800">
              <a:spcAft>
                <a:spcPts val="800"/>
              </a:spcAft>
              <a:buSzPct val="100000"/>
              <a:buChar char="•"/>
            </a:pPr>
            <a:r>
              <a:rPr lang="en-US" sz="1400" dirty="0">
                <a:solidFill>
                  <a:srgbClr val="000000"/>
                </a:solidFill>
                <a:latin typeface="Calibri" pitchFamily="34" charset="0"/>
                <a:ea typeface="Calibri" pitchFamily="34" charset="-122"/>
                <a:cs typeface="Calibri" pitchFamily="34" charset="-120"/>
              </a:rPr>
              <a:t>Layer risk = weighted mean strain of its features</a:t>
            </a:r>
            <a:endParaRPr lang="en-US" sz="1600" dirty="0"/>
          </a:p>
          <a:p>
            <a:pPr marL="177800" indent="-177800">
              <a:spcAft>
                <a:spcPts val="800"/>
              </a:spcAft>
              <a:buSzPct val="100000"/>
              <a:buChar char="•"/>
            </a:pPr>
            <a:r>
              <a:rPr lang="en-US" sz="1400" dirty="0">
                <a:solidFill>
                  <a:srgbClr val="000000"/>
                </a:solidFill>
                <a:latin typeface="Calibri" pitchFamily="34" charset="0"/>
                <a:ea typeface="Calibri" pitchFamily="34" charset="-122"/>
                <a:cs typeface="Calibri" pitchFamily="34" charset="-120"/>
              </a:rPr>
              <a:t>FRS = Σ λ′_L · risk_L,  λ′_L = λ_L·c_L / Σ λ_j·c_j  (c = data coverage)</a:t>
            </a:r>
            <a:endParaRPr lang="en-US" sz="1600" dirty="0"/>
          </a:p>
          <a:p>
            <a:pPr marL="177800" indent="-177800">
              <a:spcAft>
                <a:spcPts val="800"/>
              </a:spcAft>
              <a:buSzPct val="100000"/>
              <a:buChar char="•"/>
            </a:pPr>
            <a:r>
              <a:rPr lang="en-US" sz="1400" dirty="0">
                <a:solidFill>
                  <a:srgbClr val="000000"/>
                </a:solidFill>
                <a:latin typeface="Calibri" pitchFamily="34" charset="0"/>
                <a:ea typeface="Calibri" pitchFamily="34" charset="-122"/>
                <a:cs typeface="Calibri" pitchFamily="34" charset="-120"/>
              </a:rPr>
              <a:t>Tier: LOW &lt; 40 ≤ MODERATE &lt; 70 ≤ HIGH; contributions add up to FRS</a:t>
            </a:r>
            <a:endParaRPr lang="en-US" sz="1600" dirty="0"/>
          </a:p>
        </p:txBody>
      </p:sp>
      <p:graphicFrame>
        <p:nvGraphicFramePr>
          <p:cNvPr id="6" name="Table 6"/>
          <p:cNvGraphicFramePr>
            <a:graphicFrameLocks noGrp="1"/>
          </p:cNvGraphicFramePr>
          <p:nvPr>
            <p:extLst>
              <p:ext uri="{D42A27DB-BD31-4B8C-83A1-F6EECF244321}">
                <p14:modId xmlns:p14="http://schemas.microsoft.com/office/powerpoint/2010/main" val="1579011935"/>
              </p:ext>
            </p:extLst>
          </p:nvPr>
        </p:nvGraphicFramePr>
        <p:xfrm>
          <a:off x="6583680" y="1325880"/>
          <a:ext cx="5029200" cy="2240280"/>
        </p:xfrm>
        <a:graphic>
          <a:graphicData uri="http://schemas.openxmlformats.org/drawingml/2006/table">
            <a:tbl>
              <a:tblPr/>
              <a:tblGrid>
                <a:gridCol w="1737360"/>
                <a:gridCol w="1188720"/>
                <a:gridCol w="1005840"/>
                <a:gridCol w="1097280"/>
              </a:tblGrid>
              <a:tr h="411480">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Layer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Ratio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ln</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λ</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r>
              <a:tr h="457200">
                <a:tc>
                  <a:txBody>
                    <a:bodyPr/>
                    <a:lstStyle/>
                    <a:p>
                      <a:pPr marL="0" indent="0">
                        <a:buNone/>
                      </a:pPr>
                      <a:r>
                        <a:rPr lang="en-US" sz="1300" dirty="0" b="1">
                          <a:solidFill>
                            <a:srgbClr val="000000"/>
                          </a:solidFill>
                          <a:latin typeface="Calibri" pitchFamily="34" charset="0"/>
                          <a:ea typeface="Calibri" pitchFamily="34" charset="-122"/>
                          <a:cs typeface="Calibri" pitchFamily="34" charset="-120"/>
                        </a:rPr>
                        <a:t>Fall history</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00" dirty="0">
                          <a:solidFill>
                            <a:srgbClr val="000000"/>
                          </a:solidFill>
                          <a:latin typeface="Calibri" pitchFamily="34" charset="0"/>
                          <a:ea typeface="Calibri" pitchFamily="34" charset="-122"/>
                          <a:cs typeface="Calibri" pitchFamily="34" charset="-120"/>
                        </a:rPr>
                        <a:t>OR 2.8</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00" dirty="0">
                          <a:solidFill>
                            <a:srgbClr val="000000"/>
                          </a:solidFill>
                          <a:latin typeface="Calibri" pitchFamily="34" charset="0"/>
                          <a:ea typeface="Calibri" pitchFamily="34" charset="-122"/>
                          <a:cs typeface="Calibri" pitchFamily="34" charset="-120"/>
                        </a:rPr>
                        <a:t>1.030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00" dirty="0">
                          <a:solidFill>
                            <a:srgbClr val="000000"/>
                          </a:solidFill>
                          <a:latin typeface="Calibri" pitchFamily="34" charset="0"/>
                          <a:ea typeface="Calibri" pitchFamily="34" charset="-122"/>
                          <a:cs typeface="Calibri" pitchFamily="34" charset="-120"/>
                        </a:rPr>
                        <a:t>0.402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marL="0" indent="0">
                        <a:buNone/>
                      </a:pPr>
                      <a:r>
                        <a:rPr lang="en-US" sz="1300" dirty="0" b="1">
                          <a:solidFill>
                            <a:srgbClr val="000000"/>
                          </a:solidFill>
                          <a:latin typeface="Calibri" pitchFamily="34" charset="0"/>
                          <a:ea typeface="Calibri" pitchFamily="34" charset="-122"/>
                          <a:cs typeface="Calibri" pitchFamily="34" charset="-120"/>
                        </a:rPr>
                        <a:t>Motion (gait)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00" dirty="0">
                          <a:solidFill>
                            <a:srgbClr val="000000"/>
                          </a:solidFill>
                          <a:latin typeface="Calibri" pitchFamily="34" charset="0"/>
                          <a:ea typeface="Calibri" pitchFamily="34" charset="-122"/>
                          <a:cs typeface="Calibri" pitchFamily="34" charset="-120"/>
                        </a:rPr>
                        <a:t>OR 2.1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00" dirty="0">
                          <a:solidFill>
                            <a:srgbClr val="000000"/>
                          </a:solidFill>
                          <a:latin typeface="Calibri" pitchFamily="34" charset="0"/>
                          <a:ea typeface="Calibri" pitchFamily="34" charset="-122"/>
                          <a:cs typeface="Calibri" pitchFamily="34" charset="-120"/>
                        </a:rPr>
                        <a:t>0.742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00" dirty="0">
                          <a:solidFill>
                            <a:srgbClr val="000000"/>
                          </a:solidFill>
                          <a:latin typeface="Calibri" pitchFamily="34" charset="0"/>
                          <a:ea typeface="Calibri" pitchFamily="34" charset="-122"/>
                          <a:cs typeface="Calibri" pitchFamily="34" charset="-120"/>
                        </a:rPr>
                        <a:t>0.290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marL="0" indent="0">
                        <a:buNone/>
                      </a:pPr>
                      <a:r>
                        <a:rPr lang="en-US" sz="1300" dirty="0" b="1">
                          <a:solidFill>
                            <a:srgbClr val="000000"/>
                          </a:solidFill>
                          <a:latin typeface="Calibri" pitchFamily="34" charset="0"/>
                          <a:ea typeface="Calibri" pitchFamily="34" charset="-122"/>
                          <a:cs typeface="Calibri" pitchFamily="34" charset="-120"/>
                        </a:rPr>
                        <a:t>Physiology (OH)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00" dirty="0">
                          <a:solidFill>
                            <a:srgbClr val="000000"/>
                          </a:solidFill>
                          <a:latin typeface="Calibri" pitchFamily="34" charset="0"/>
                          <a:ea typeface="Calibri" pitchFamily="34" charset="-122"/>
                          <a:cs typeface="Calibri" pitchFamily="34" charset="-120"/>
                        </a:rPr>
                        <a:t>OR 1.73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00" dirty="0">
                          <a:solidFill>
                            <a:srgbClr val="000000"/>
                          </a:solidFill>
                          <a:latin typeface="Calibri" pitchFamily="34" charset="0"/>
                          <a:ea typeface="Calibri" pitchFamily="34" charset="-122"/>
                          <a:cs typeface="Calibri" pitchFamily="34" charset="-120"/>
                        </a:rPr>
                        <a:t>0.548</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00" dirty="0">
                          <a:solidFill>
                            <a:srgbClr val="000000"/>
                          </a:solidFill>
                          <a:latin typeface="Calibri" pitchFamily="34" charset="0"/>
                          <a:ea typeface="Calibri" pitchFamily="34" charset="-122"/>
                          <a:cs typeface="Calibri" pitchFamily="34" charset="-120"/>
                        </a:rPr>
                        <a:t>0.214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marL="0" indent="0">
                        <a:buNone/>
                      </a:pPr>
                      <a:r>
                        <a:rPr lang="en-US" sz="1300" dirty="0" b="1">
                          <a:solidFill>
                            <a:srgbClr val="000000"/>
                          </a:solidFill>
                          <a:latin typeface="Calibri" pitchFamily="34" charset="0"/>
                          <a:ea typeface="Calibri" pitchFamily="34" charset="-122"/>
                          <a:cs typeface="Calibri" pitchFamily="34" charset="-120"/>
                        </a:rPr>
                        <a:t>Recovery (sleep)</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00" dirty="0">
                          <a:solidFill>
                            <a:srgbClr val="000000"/>
                          </a:solidFill>
                          <a:latin typeface="Calibri" pitchFamily="34" charset="0"/>
                          <a:ea typeface="Calibri" pitchFamily="34" charset="-122"/>
                          <a:cs typeface="Calibri" pitchFamily="34" charset="-120"/>
                        </a:rPr>
                        <a:t>RR 1.27</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00" dirty="0">
                          <a:solidFill>
                            <a:srgbClr val="000000"/>
                          </a:solidFill>
                          <a:latin typeface="Calibri" pitchFamily="34" charset="0"/>
                          <a:ea typeface="Calibri" pitchFamily="34" charset="-122"/>
                          <a:cs typeface="Calibri" pitchFamily="34" charset="-120"/>
                        </a:rPr>
                        <a:t>0.239</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00" dirty="0">
                          <a:solidFill>
                            <a:srgbClr val="000000"/>
                          </a:solidFill>
                          <a:latin typeface="Calibri" pitchFamily="34" charset="0"/>
                          <a:ea typeface="Calibri" pitchFamily="34" charset="-122"/>
                          <a:cs typeface="Calibri" pitchFamily="34" charset="-120"/>
                        </a:rPr>
                        <a:t>0.093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7" name="TextBox 6"/>
          <p:cNvSpPr txBox="1"/>
          <p:nvPr/>
        </p:nvSpPr>
        <p:spPr>
          <a:xfrm>
            <a:off x="6583680" y="3794760"/>
            <a:ext cx="5029200" cy="411480"/>
          </a:xfrm>
          <a:prstGeom prst="rect">
            <a:avLst/>
          </a:prstGeom>
          <a:noFill/>
        </p:spPr>
        <p:txBody>
          <a:bodyPr wrap="square" lIns="45720" rIns="45720">
            <a:spAutoFit/>
          </a:bodyPr>
          <a:lstStyle/>
          <a:p>
            <a:pPr>
              <a:spcAft>
                <a:spcPts val="600"/>
              </a:spcAft>
            </a:pPr>
            <a:r>
              <a:rPr sz="1100" b="0">
                <a:solidFill>
                  <a:srgbClr val="595959"/>
                </a:solidFill>
                <a:latin typeface="Calibri"/>
              </a:rPr>
              <a:t>λ = ln(ratio) / Σ ln(ratio). Sources: Deandrea 2010 [11], JAMDA [13], SWAN [14].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Implementation (2/2): Gait &amp; Safety Fusion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 2"/>
          <p:cNvSpPr txBox="1"/>
          <p:nvPr/>
        </p:nvSpPr>
        <p:spPr>
          <a:xfrm>
            <a:off x="640080" y="1234440"/>
            <a:ext cx="5303520" cy="4937760"/>
          </a:xfrm>
          <a:prstGeom prst="rect">
            <a:avLst/>
          </a:prstGeom>
          <a:noFill/>
          <a:ln/>
        </p:spPr>
        <p:txBody>
          <a:bodyPr wrap="square" lIns="0" tIns="0" rIns="0" bIns="0" rtlCol="0" anchor="t"/>
          <a:lstStyle/>
          <a:p>
            <a:pPr marL="0" indent="0">
              <a:spcAft>
                <a:spcPts val="800"/>
              </a:spcAft>
              <a:buNone/>
            </a:pPr>
            <a:r>
              <a:rPr lang="en-US" sz="1400" dirty="0" b="1">
                <a:solidFill>
                  <a:srgbClr val="1D2F82"/>
                </a:solidFill>
                <a:latin typeface="Calibri" pitchFamily="34" charset="0"/>
                <a:ea typeface="Calibri" pitchFamily="34" charset="-122"/>
                <a:cs typeface="Calibri" pitchFamily="34" charset="-120"/>
              </a:rPr>
              <a:t>Gait pipeline v2 (lower-back IMU, 100 Hz)</a:t>
            </a:r>
            <a:endParaRPr lang="en-US" sz="1600" dirty="0"/>
          </a:p>
          <a:p>
            <a:pPr marL="177800" indent="-177800">
              <a:spcAft>
                <a:spcPts val="800"/>
              </a:spcAft>
              <a:buSzPct val="100000"/>
              <a:buChar char="•"/>
            </a:pPr>
            <a:r>
              <a:rPr lang="en-US" sz="1400" dirty="0">
                <a:solidFill>
                  <a:srgbClr val="000000"/>
                </a:solidFill>
                <a:latin typeface="Calibri" pitchFamily="34" charset="0"/>
                <a:ea typeface="Calibri" pitchFamily="34" charset="-122"/>
                <a:cs typeface="Calibri" pitchFamily="34" charset="-120"/>
              </a:rPr>
              <a:t>Band-pass 0.5–15 Hz; remove turns (yaw &gt; 25 °/s ± 1 s)</a:t>
            </a:r>
            <a:endParaRPr lang="en-US" sz="1600" dirty="0"/>
          </a:p>
          <a:p>
            <a:pPr marL="177800" indent="-177800">
              <a:spcAft>
                <a:spcPts val="800"/>
              </a:spcAft>
              <a:buSzPct val="100000"/>
              <a:buChar char="•"/>
            </a:pPr>
            <a:r>
              <a:rPr lang="en-US" sz="1400" dirty="0">
                <a:solidFill>
                  <a:srgbClr val="000000"/>
                </a:solidFill>
                <a:latin typeface="Calibri" pitchFamily="34" charset="0"/>
                <a:ea typeface="Calibri" pitchFamily="34" charset="-122"/>
                <a:cs typeface="Calibri" pitchFamily="34" charset="-120"/>
              </a:rPr>
              <a:t>Initial contacts: McCamley method, person-specific step period</a:t>
            </a:r>
            <a:endParaRPr lang="en-US" sz="1600" dirty="0"/>
          </a:p>
          <a:p>
            <a:pPr marL="177800" indent="-177800">
              <a:spcAft>
                <a:spcPts val="800"/>
              </a:spcAft>
              <a:buSzPct val="100000"/>
              <a:buChar char="•"/>
            </a:pPr>
            <a:r>
              <a:rPr lang="en-US" sz="1400" dirty="0">
                <a:solidFill>
                  <a:srgbClr val="000000"/>
                </a:solidFill>
                <a:latin typeface="Calibri" pitchFamily="34" charset="0"/>
                <a:ea typeface="Calibri" pitchFamily="34" charset="-122"/>
                <a:cs typeface="Calibri" pitchFamily="34" charset="-120"/>
              </a:rPr>
              <a:t>Reject intervals outside 0.6–1.5 × median</a:t>
            </a:r>
            <a:endParaRPr lang="en-US" sz="1600" dirty="0"/>
          </a:p>
          <a:p>
            <a:pPr marL="177800" indent="-177800">
              <a:spcAft>
                <a:spcPts val="800"/>
              </a:spcAft>
              <a:buSzPct val="100000"/>
              <a:buChar char="•"/>
            </a:pPr>
            <a:r>
              <a:rPr lang="en-US" sz="1400" dirty="0">
                <a:solidFill>
                  <a:srgbClr val="000000"/>
                </a:solidFill>
                <a:latin typeface="Calibri" pitchFamily="34" charset="0"/>
                <a:ea typeface="Calibri" pitchFamily="34" charset="-122"/>
                <a:cs typeface="Calibri" pitchFamily="34" charset="-120"/>
              </a:rPr>
              <a:t>Stride-time CV, step/stride regularity, harmonic ratio, cadence</a:t>
            </a:r>
            <a:endParaRPr lang="en-US" sz="1600" dirty="0"/>
          </a:p>
          <a:p>
            <a:pPr marL="177800" indent="-177800">
              <a:spcAft>
                <a:spcPts val="800"/>
              </a:spcAft>
              <a:buSzPct val="100000"/>
              <a:buChar char="•"/>
            </a:pPr>
            <a:r>
              <a:rPr lang="en-US" sz="1400" dirty="0">
                <a:solidFill>
                  <a:srgbClr val="000000"/>
                </a:solidFill>
                <a:latin typeface="Calibri" pitchFamily="34" charset="0"/>
                <a:ea typeface="Calibri" pitchFamily="34" charset="-122"/>
                <a:cs typeface="Calibri" pitchFamily="34" charset="-120"/>
              </a:rPr>
              <a:t>Untrained index: mean of direction-signed z-scores, no labels used</a:t>
            </a:r>
            <a:endParaRPr lang="en-US" sz="1600" dirty="0"/>
          </a:p>
        </p:txBody>
      </p:sp>
      <p:sp>
        <p:nvSpPr>
          <p:cNvPr id="6" name="TextBox 5"/>
          <p:cNvSpPr txBox="1"/>
          <p:nvPr/>
        </p:nvSpPr>
        <p:spPr>
          <a:xfrm>
            <a:off x="6217920" y="1325880"/>
            <a:ext cx="5486400" cy="3566160"/>
          </a:xfrm>
          <a:prstGeom prst="rect">
            <a:avLst/>
          </a:prstGeom>
          <a:solidFill>
            <a:srgbClr val="F2F2F2"/>
          </a:solidFill>
        </p:spPr>
        <p:txBody>
          <a:bodyPr wrap="square" lIns="109728" rIns="109728" tIns="109728" bIns="109728">
            <a:spAutoFit/>
          </a:bodyPr>
          <a:lstStyle/>
          <a:p>
            <a:pPr>
              <a:spcAft>
                <a:spcPts val="600"/>
              </a:spcAft>
            </a:pPr>
            <a:r>
              <a:rPr sz="1050" b="0">
                <a:solidFill>
                  <a:srgbClr val="000000"/>
                </a:solidFill>
                <a:latin typeface="Courier New"/>
              </a:rPr>
              <a:t>def check_emergency_fused(message: str,</a:t>
            </a:r>
          </a:p>
          <a:p>
            <a:pPr>
              <a:spcAft>
                <a:spcPts val="600"/>
              </a:spcAft>
            </a:pPr>
            <a:r>
              <a:rPr sz="1050" b="0">
                <a:solidFill>
                  <a:srgbClr val="000000"/>
                </a:solidFill>
                <a:latin typeface="Courier New"/>
              </a:rPr>
              <a:t>        llm_res: tuple[bool, str, float],</a:t>
            </a:r>
          </a:p>
          <a:p>
            <a:pPr>
              <a:spcAft>
                <a:spcPts val="600"/>
              </a:spcAft>
            </a:pPr>
            <a:r>
              <a:rPr sz="1050" b="0">
                <a:solidFill>
                  <a:srgbClr val="000000"/>
                </a:solidFill>
                <a:latin typeface="Courier New"/>
              </a:rPr>
              <a:t>        biometric_event: dict | None = None</a:t>
            </a:r>
          </a:p>
          <a:p>
            <a:pPr>
              <a:spcAft>
                <a:spcPts val="600"/>
              </a:spcAft>
            </a:pPr>
            <a:r>
              <a:rPr sz="1050" b="0">
                <a:solidFill>
                  <a:srgbClr val="000000"/>
                </a:solidFill>
                <a:latin typeface="Courier New"/>
              </a:rPr>
              <a:t>        ) -&gt; tuple[bool, str, dict]:</a:t>
            </a:r>
          </a:p>
          <a:p>
            <a:pPr>
              <a:spcAft>
                <a:spcPts val="600"/>
              </a:spcAft>
            </a:pPr>
            <a:r>
              <a:rPr sz="1050" b="0">
                <a:solidFill>
                  <a:srgbClr val="000000"/>
                </a:solidFill>
                <a:latin typeface="Courier New"/>
              </a:rPr>
              <a:t>    ...</a:t>
            </a:r>
          </a:p>
          <a:p>
            <a:pPr>
              <a:spcAft>
                <a:spcPts val="600"/>
              </a:spcAft>
            </a:pPr>
            <a:r>
              <a:rPr sz="1050" b="0">
                <a:solidFill>
                  <a:srgbClr val="000000"/>
                </a:solidFill>
                <a:latin typeface="Courier New"/>
              </a:rPr>
              <a:t>    # Third signal (Review-II): physiological evidence</a:t>
            </a:r>
          </a:p>
          <a:p>
            <a:pPr>
              <a:spcAft>
                <a:spcPts val="600"/>
              </a:spcAft>
            </a:pPr>
            <a:r>
              <a:rPr sz="1050" b="0">
                <a:solidFill>
                  <a:srgbClr val="000000"/>
                </a:solidFill>
                <a:latin typeface="Courier New"/>
              </a:rPr>
              <a:t>    # independent of the text. An uncancelled fall detected</a:t>
            </a:r>
          </a:p>
          <a:p>
            <a:pPr>
              <a:spcAft>
                <a:spcPts val="600"/>
              </a:spcAft>
            </a:pPr>
            <a:r>
              <a:rPr sz="1050" b="0">
                <a:solidFill>
                  <a:srgbClr val="000000"/>
                </a:solidFill>
                <a:latin typeface="Courier New"/>
              </a:rPr>
              <a:t>    # by the ring/phone in the last 30 minutes escalates</a:t>
            </a:r>
          </a:p>
          <a:p>
            <a:pPr>
              <a:spcAft>
                <a:spcPts val="600"/>
              </a:spcAft>
            </a:pPr>
            <a:r>
              <a:rPr sz="1050" b="0">
                <a:solidFill>
                  <a:srgbClr val="000000"/>
                </a:solidFill>
                <a:latin typeface="Courier New"/>
              </a:rPr>
              <a:t>    # ANY message, even a calm-sounding one ("I'm fine").</a:t>
            </a:r>
          </a:p>
          <a:p>
            <a:pPr>
              <a:spcAft>
                <a:spcPts val="600"/>
              </a:spcAft>
            </a:pPr>
            <a:r>
              <a:rPr sz="1050" b="0">
                <a:solidFill>
                  <a:srgbClr val="000000"/>
                </a:solidFill>
                <a:latin typeface="Courier New"/>
              </a:rPr>
              <a:t>    biometric_triggered = bool(biometric_event)</a:t>
            </a:r>
          </a:p>
          <a:p>
            <a:pPr>
              <a:spcAft>
                <a:spcPts val="600"/>
              </a:spcAft>
            </a:pPr>
            <a:r>
              <a:rPr sz="1050" b="0">
                <a:solidFill>
                  <a:srgbClr val="000000"/>
                </a:solidFill>
                <a:latin typeface="Courier New"/>
              </a:rPr>
              <a:t/>
            </a:r>
          </a:p>
          <a:p>
            <a:pPr>
              <a:spcAft>
                <a:spcPts val="600"/>
              </a:spcAft>
            </a:pPr>
            <a:r>
              <a:rPr sz="1050" b="0">
                <a:solidFill>
                  <a:srgbClr val="000000"/>
                </a:solidFill>
                <a:latin typeface="Courier New"/>
              </a:rPr>
              <a:t>    is_emergency = bool(effective_kw_triggered) \</a:t>
            </a:r>
          </a:p>
          <a:p>
            <a:pPr>
              <a:spcAft>
                <a:spcPts val="600"/>
              </a:spcAft>
            </a:pPr>
            <a:r>
              <a:rPr sz="1050" b="0">
                <a:solidFill>
                  <a:srgbClr val="000000"/>
                </a:solidFill>
                <a:latin typeface="Courier New"/>
              </a:rPr>
              <a:t>        or llm_triggered or biometric_triggered</a:t>
            </a:r>
          </a:p>
        </p:txBody>
      </p:sp>
      <p:sp>
        <p:nvSpPr>
          <p:cNvPr id="7" name="TextBox 6"/>
          <p:cNvSpPr txBox="1"/>
          <p:nvPr/>
        </p:nvSpPr>
        <p:spPr>
          <a:xfrm>
            <a:off x="6217920" y="4983480"/>
            <a:ext cx="5486400" cy="411480"/>
          </a:xfrm>
          <a:prstGeom prst="rect">
            <a:avLst/>
          </a:prstGeom>
          <a:noFill/>
        </p:spPr>
        <p:txBody>
          <a:bodyPr wrap="square" lIns="45720" rIns="45720">
            <a:spAutoFit/>
          </a:bodyPr>
          <a:lstStyle/>
          <a:p>
            <a:pPr>
              <a:spcAft>
                <a:spcPts val="600"/>
              </a:spcAft>
            </a:pPr>
            <a:r>
              <a:rPr sz="1100" b="0">
                <a:solidFill>
                  <a:srgbClr val="595959"/>
                </a:solidFill>
                <a:latin typeface="Calibri"/>
              </a:rPr>
              <a:t>agent/tools.py · check_emergency_fused (excerpt)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Results &amp; Analysis (75%): Engine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graphicFrame>
        <p:nvGraphicFramePr>
          <p:cNvPr id="5" name="Table 5"/>
          <p:cNvGraphicFramePr>
            <a:graphicFrameLocks noGrp="1"/>
          </p:cNvGraphicFramePr>
          <p:nvPr>
            <p:extLst>
              <p:ext uri="{D42A27DB-BD31-4B8C-83A1-F6EECF244321}">
                <p14:modId xmlns:p14="http://schemas.microsoft.com/office/powerpoint/2010/main" val="1579011935"/>
              </p:ext>
            </p:extLst>
          </p:nvPr>
        </p:nvGraphicFramePr>
        <p:xfrm>
          <a:off x="548640" y="1188720"/>
          <a:ext cx="7132320" cy="2468880"/>
        </p:xfrm>
        <a:graphic>
          <a:graphicData uri="http://schemas.openxmlformats.org/drawingml/2006/table">
            <a:tbl>
              <a:tblPr/>
              <a:tblGrid>
                <a:gridCol w="2651760"/>
                <a:gridCol w="685800"/>
                <a:gridCol w="1234440"/>
                <a:gridCol w="685800"/>
                <a:gridCol w="1874519"/>
              </a:tblGrid>
              <a:tr h="411480">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User (synthetic)</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FRS</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Q</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Note</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r>
              <a:tr h="411480">
                <a:tc>
                  <a:txBody>
                    <a:bodyPr/>
                    <a:lstStyle/>
                    <a:p>
                      <a:pPr marL="0" indent="0">
                        <a:buNone/>
                      </a:pPr>
                      <a:r>
                        <a:rPr lang="en-US" sz="1200" dirty="0" b="1">
                          <a:solidFill>
                            <a:srgbClr val="000000"/>
                          </a:solidFill>
                          <a:latin typeface="Calibri" pitchFamily="34" charset="0"/>
                          <a:ea typeface="Calibri" pitchFamily="34" charset="-122"/>
                          <a:cs typeface="Calibri" pitchFamily="34" charset="-120"/>
                        </a:rPr>
                        <a:t>Arun (low risk)</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LOW</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marL="0" indent="0">
                        <a:buNone/>
                      </a:pPr>
                      <a:r>
                        <a:rPr lang="en-US" sz="1200" dirty="0" b="1">
                          <a:solidFill>
                            <a:srgbClr val="000000"/>
                          </a:solidFill>
                          <a:latin typeface="Calibri" pitchFamily="34" charset="0"/>
                          <a:ea typeface="Calibri" pitchFamily="34" charset="-122"/>
                          <a:cs typeface="Calibri" pitchFamily="34" charset="-120"/>
                        </a:rPr>
                        <a:t>Meera (luteal + poor recovery)</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47</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MODERATE</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cycle-aware; 48 without</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marL="0" indent="0">
                        <a:buNone/>
                      </a:pPr>
                      <a:r>
                        <a:rPr lang="en-US" sz="1200" dirty="0" b="1">
                          <a:solidFill>
                            <a:srgbClr val="000000"/>
                          </a:solidFill>
                          <a:latin typeface="Calibri" pitchFamily="34" charset="0"/>
                          <a:ea typeface="Calibri" pitchFamily="34" charset="-122"/>
                          <a:cs typeface="Calibri" pitchFamily="34" charset="-120"/>
                        </a:rPr>
                        <a:t>Ravi (stale data)</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LOW</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70%</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data flagged STALE</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marL="0" indent="0">
                        <a:buNone/>
                      </a:pPr>
                      <a:r>
                        <a:rPr lang="en-US" sz="1200" dirty="0" b="1">
                          <a:solidFill>
                            <a:srgbClr val="000000"/>
                          </a:solidFill>
                          <a:latin typeface="Calibri" pitchFamily="34" charset="0"/>
                          <a:ea typeface="Calibri" pitchFamily="34" charset="-122"/>
                          <a:cs typeface="Calibri" pitchFamily="34" charset="-120"/>
                        </a:rPr>
                        <a:t>Lakshmi (recent fall)</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71</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HIGH</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marL="0" indent="0">
                        <a:buNone/>
                      </a:pPr>
                      <a:r>
                        <a:rPr lang="en-US" sz="1200" dirty="0" b="1">
                          <a:solidFill>
                            <a:srgbClr val="000000"/>
                          </a:solidFill>
                          <a:latin typeface="Calibri" pitchFamily="34" charset="0"/>
                          <a:ea typeface="Calibri" pitchFamily="34" charset="-122"/>
                          <a:cs typeface="Calibri" pitchFamily="34" charset="-120"/>
                        </a:rPr>
                        <a:t>Priya (healthy luteal)</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LOW</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cycle-aware; 6 without</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pic>
        <p:nvPicPr>
          <p:cNvPr id="6" name="Picture 5" descr="cycle_ablation.png"/>
          <p:cNvPicPr>
            <a:picLocks noChangeAspect="1"/>
          </p:cNvPicPr>
          <p:nvPr/>
        </p:nvPicPr>
        <p:blipFill>
          <a:blip r:embed="rId3"/>
          <a:stretch>
            <a:fillRect/>
          </a:stretch>
        </p:blipFill>
        <p:spPr>
          <a:xfrm>
            <a:off x="971550" y="3840480"/>
            <a:ext cx="6286500" cy="2514600"/>
          </a:xfrm>
          <a:prstGeom prst="rect">
            <a:avLst/>
          </a:prstGeom>
        </p:spPr>
      </p:pic>
      <p:sp>
        <p:nvSpPr>
          <p:cNvPr id="7" name="TextBox 6"/>
          <p:cNvSpPr txBox="1"/>
          <p:nvPr/>
        </p:nvSpPr>
        <p:spPr>
          <a:xfrm>
            <a:off x="8229600" y="1188720"/>
            <a:ext cx="3474720" cy="5029200"/>
          </a:xfrm>
          <a:prstGeom prst="rect">
            <a:avLst/>
          </a:prstGeom>
          <a:noFill/>
        </p:spPr>
        <p:txBody>
          <a:bodyPr wrap="square" lIns="45720" rIns="45720">
            <a:spAutoFit/>
          </a:bodyPr>
          <a:lstStyle/>
          <a:p>
            <a:pPr>
              <a:spcAft>
                <a:spcPts val="600"/>
              </a:spcAft>
            </a:pPr>
            <a:r>
              <a:rPr sz="1400" b="1">
                <a:solidFill>
                  <a:srgbClr val="1D2F82"/>
                </a:solidFill>
                <a:latin typeface="Calibri"/>
              </a:rPr>
              <a:t>Cycle-aware ablation</a:t>
            </a:r>
          </a:p>
          <a:p>
            <a:pPr marL="177800" indent="-177800">
              <a:spcAft>
                <a:spcPts val="600"/>
              </a:spcAft>
              <a:buChar char="•"/>
            </a:pPr>
            <a:r>
              <a:rPr sz="1400" b="0">
                <a:solidFill>
                  <a:srgbClr val="000000"/>
                </a:solidFill>
                <a:latin typeface="Calibri"/>
              </a:rPr>
              <a:t>Healthy luteal: risk 18.1 → 10.2 (9 days, −43.4%)</a:t>
            </a:r>
          </a:p>
          <a:p>
            <a:pPr marL="177800" indent="-177800">
              <a:spcAft>
                <a:spcPts val="600"/>
              </a:spcAft>
              <a:buChar char="•"/>
            </a:pPr>
            <a:r>
              <a:rPr sz="1400" b="0">
                <a:solidFill>
                  <a:srgbClr val="000000"/>
                </a:solidFill>
                <a:latin typeface="Calibri"/>
              </a:rPr>
              <a:t>Strained luteal: 19.3 → 11.5; flags 2 → 0</a:t>
            </a:r>
          </a:p>
          <a:p>
            <a:pPr marL="177800" indent="-177800">
              <a:spcAft>
                <a:spcPts val="600"/>
              </a:spcAft>
              <a:buChar char="•"/>
            </a:pPr>
            <a:r>
              <a:rPr sz="1400" b="0">
                <a:solidFill>
                  <a:srgbClr val="000000"/>
                </a:solidFill>
                <a:latin typeface="Calibri"/>
              </a:rPr>
              <a:t>Genuine acute strain is kept (last 3 days stay high)</a:t>
            </a:r>
          </a:p>
          <a:p>
            <a:pPr marL="177800" indent="-177800">
              <a:spcAft>
                <a:spcPts val="600"/>
              </a:spcAft>
              <a:buChar char="•"/>
            </a:pPr>
            <a:r>
              <a:rPr sz="1400" b="0">
                <a:solidFill>
                  <a:srgbClr val="000000"/>
                </a:solidFill>
                <a:latin typeface="Calibri"/>
              </a:rPr>
              <a:t>Synthetic cohort: shows the engine behaves as designed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Results: Real-Data Validation (LTMM)</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graphicFrame>
        <p:nvGraphicFramePr>
          <p:cNvPr id="5" name="Table 5"/>
          <p:cNvGraphicFramePr>
            <a:graphicFrameLocks noGrp="1"/>
          </p:cNvGraphicFramePr>
          <p:nvPr>
            <p:extLst>
              <p:ext uri="{D42A27DB-BD31-4B8C-83A1-F6EECF244321}">
                <p14:modId xmlns:p14="http://schemas.microsoft.com/office/powerpoint/2010/main" val="1579011935"/>
              </p:ext>
            </p:extLst>
          </p:nvPr>
        </p:nvGraphicFramePr>
        <p:xfrm>
          <a:off x="8778240" y="1188720"/>
          <a:ext cx="2953512" cy="2697480"/>
        </p:xfrm>
        <a:graphic>
          <a:graphicData uri="http://schemas.openxmlformats.org/drawingml/2006/table">
            <a:tbl>
              <a:tblPr/>
              <a:tblGrid>
                <a:gridCol w="1828800"/>
                <a:gridCol w="1124712"/>
              </a:tblGrid>
              <a:tr h="411480">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Faller vs non-faller</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AUC</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r>
              <a:tr h="45720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v2 gait index, untrained</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0.686</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  95% CI</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0.561–0.808</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Timed Up and Go</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0.683</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Berg Balance Scale</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0.618</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Cadence alone (v2)</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0.770</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pic>
        <p:nvPicPr>
          <p:cNvPr id="6" name="Picture 5" descr="ltmm_roc.png"/>
          <p:cNvPicPr>
            <a:picLocks noChangeAspect="1"/>
          </p:cNvPicPr>
          <p:nvPr/>
        </p:nvPicPr>
        <p:blipFill>
          <a:blip r:embed="rId3"/>
          <a:stretch>
            <a:fillRect/>
          </a:stretch>
        </p:blipFill>
        <p:spPr>
          <a:xfrm>
            <a:off x="457200" y="1327224"/>
            <a:ext cx="5212080" cy="4752190"/>
          </a:xfrm>
          <a:prstGeom prst="rect">
            <a:avLst/>
          </a:prstGeom>
        </p:spPr>
      </p:pic>
      <p:pic>
        <p:nvPicPr>
          <p:cNvPr id="7" name="Picture 6" descr="gait_detector_bench.png"/>
          <p:cNvPicPr>
            <a:picLocks noChangeAspect="1"/>
          </p:cNvPicPr>
          <p:nvPr/>
        </p:nvPicPr>
        <p:blipFill>
          <a:blip r:embed="rId4"/>
          <a:stretch>
            <a:fillRect/>
          </a:stretch>
        </p:blipFill>
        <p:spPr>
          <a:xfrm>
            <a:off x="5760720" y="1101090"/>
            <a:ext cx="2834640" cy="2598420"/>
          </a:xfrm>
          <a:prstGeom prst="rect">
            <a:avLst/>
          </a:prstGeom>
        </p:spPr>
      </p:pic>
      <p:sp>
        <p:nvSpPr>
          <p:cNvPr id="8" name="TextBox 7"/>
          <p:cNvSpPr txBox="1"/>
          <p:nvPr/>
        </p:nvSpPr>
        <p:spPr>
          <a:xfrm>
            <a:off x="5760720" y="3886200"/>
            <a:ext cx="5943600" cy="2286000"/>
          </a:xfrm>
          <a:prstGeom prst="rect">
            <a:avLst/>
          </a:prstGeom>
          <a:noFill/>
        </p:spPr>
        <p:txBody>
          <a:bodyPr wrap="square" lIns="45720" rIns="45720">
            <a:spAutoFit/>
          </a:bodyPr>
          <a:lstStyle/>
          <a:p>
            <a:pPr marL="177800" indent="-177800">
              <a:spcAft>
                <a:spcPts val="600"/>
              </a:spcAft>
              <a:buChar char="•"/>
            </a:pPr>
            <a:r>
              <a:rPr sz="1400" b="0">
                <a:solidFill>
                  <a:srgbClr val="000000"/>
                </a:solidFill>
                <a:latin typeface="Calibri"/>
              </a:rPr>
              <a:t>n = 73 (35 fallers, 38 non-fallers); TUG/Berg on 69</a:t>
            </a:r>
          </a:p>
          <a:p>
            <a:pPr marL="177800" indent="-177800">
              <a:spcAft>
                <a:spcPts val="600"/>
              </a:spcAft>
              <a:buChar char="•"/>
            </a:pPr>
            <a:r>
              <a:rPr sz="1400" b="0">
                <a:solidFill>
                  <a:srgbClr val="000000"/>
                </a:solidFill>
                <a:latin typeface="Calibri"/>
              </a:rPr>
              <a:t>Detector error 6.79 → 0.52 CV points (r 0.61 → 0.98)</a:t>
            </a:r>
          </a:p>
          <a:p>
            <a:pPr marL="177800" indent="-177800">
              <a:spcAft>
                <a:spcPts val="600"/>
              </a:spcAft>
              <a:buChar char="•"/>
            </a:pPr>
            <a:r>
              <a:rPr sz="1400" b="0">
                <a:solidFill>
                  <a:srgbClr val="000000"/>
                </a:solidFill>
                <a:latin typeface="Calibri"/>
              </a:rPr>
              <a:t>Real data: stride CV median 8.36% → 3.00%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Results (contd.): Rigor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graphicFrame>
        <p:nvGraphicFramePr>
          <p:cNvPr id="5" name="Table 5"/>
          <p:cNvGraphicFramePr>
            <a:graphicFrameLocks noGrp="1"/>
          </p:cNvGraphicFramePr>
          <p:nvPr>
            <p:extLst>
              <p:ext uri="{D42A27DB-BD31-4B8C-83A1-F6EECF244321}">
                <p14:modId xmlns:p14="http://schemas.microsoft.com/office/powerpoint/2010/main" val="1579011935"/>
              </p:ext>
            </p:extLst>
          </p:nvPr>
        </p:nvGraphicFramePr>
        <p:xfrm>
          <a:off x="548640" y="1188720"/>
          <a:ext cx="4937760" cy="2971800"/>
        </p:xfrm>
        <a:graphic>
          <a:graphicData uri="http://schemas.openxmlformats.org/drawingml/2006/table">
            <a:tbl>
              <a:tblPr/>
              <a:tblGrid>
                <a:gridCol w="548640"/>
                <a:gridCol w="3566160"/>
                <a:gridCol w="822960"/>
              </a:tblGrid>
              <a:tr h="411480">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Exp 2</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Lab walks, n = 73, pre-registered</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AUC</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r>
              <a:tr h="365760">
                <a:tc>
                  <a:txBody>
                    <a:bodyPr/>
                    <a:lstStyle/>
                    <a:p>
                      <a:pPr marL="0" indent="0">
                        <a:buNone/>
                      </a:pPr>
                      <a:r>
                        <a:rPr lang="en-US" sz="1100" dirty="0" b="1">
                          <a:solidFill>
                            <a:srgbClr val="000000"/>
                          </a:solidFill>
                          <a:latin typeface="Calibri" pitchFamily="34" charset="0"/>
                          <a:ea typeface="Calibri" pitchFamily="34" charset="-122"/>
                          <a:cs typeface="Calibri" pitchFamily="34" charset="-120"/>
                        </a:rPr>
                        <a:t>M0</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v2 Gait Index (untrained)</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0.686</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65760">
                <a:tc>
                  <a:txBody>
                    <a:bodyPr/>
                    <a:lstStyle/>
                    <a:p>
                      <a:pPr marL="0" indent="0">
                        <a:buNone/>
                      </a:pPr>
                      <a:r>
                        <a:rPr lang="en-US" sz="1100" dirty="0" b="1">
                          <a:solidFill>
                            <a:srgbClr val="000000"/>
                          </a:solidFill>
                          <a:latin typeface="Calibri" pitchFamily="34" charset="0"/>
                          <a:ea typeface="Calibri" pitchFamily="34" charset="-122"/>
                          <a:cs typeface="Calibri" pitchFamily="34" charset="-120"/>
                        </a:rPr>
                        <a:t>M1</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v3 Index: gait + turns (untrained)</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0.634</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65760">
                <a:tc>
                  <a:txBody>
                    <a:bodyPr/>
                    <a:lstStyle/>
                    <a:p>
                      <a:pPr marL="0" indent="0">
                        <a:buNone/>
                      </a:pPr>
                      <a:r>
                        <a:rPr lang="en-US" sz="1100" dirty="0" b="1">
                          <a:solidFill>
                            <a:srgbClr val="000000"/>
                          </a:solidFill>
                          <a:latin typeface="Calibri" pitchFamily="34" charset="0"/>
                          <a:ea typeface="Calibri" pitchFamily="34" charset="-122"/>
                          <a:cs typeface="Calibri" pitchFamily="34" charset="-120"/>
                        </a:rPr>
                        <a:t>M2</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LogReg: v2 features</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0.721</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65760">
                <a:tc>
                  <a:txBody>
                    <a:bodyPr/>
                    <a:lstStyle/>
                    <a:p>
                      <a:pPr marL="0" indent="0">
                        <a:buNone/>
                      </a:pPr>
                      <a:r>
                        <a:rPr lang="en-US" sz="1100" dirty="0" b="1">
                          <a:solidFill>
                            <a:srgbClr val="000000"/>
                          </a:solidFill>
                          <a:latin typeface="Calibri" pitchFamily="34" charset="0"/>
                          <a:ea typeface="Calibri" pitchFamily="34" charset="-122"/>
                          <a:cs typeface="Calibri" pitchFamily="34" charset="-120"/>
                        </a:rPr>
                        <a:t>M3</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LogReg: v3 gait + turns (k=8)</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0.661</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65760">
                <a:tc>
                  <a:txBody>
                    <a:bodyPr/>
                    <a:lstStyle/>
                    <a:p>
                      <a:pPr marL="0" indent="0">
                        <a:buNone/>
                      </a:pPr>
                      <a:r>
                        <a:rPr lang="en-US" sz="1100" dirty="0" b="1">
                          <a:solidFill>
                            <a:srgbClr val="000000"/>
                          </a:solidFill>
                          <a:latin typeface="Calibri" pitchFamily="34" charset="0"/>
                          <a:ea typeface="Calibri" pitchFamily="34" charset="-122"/>
                          <a:cs typeface="Calibri" pitchFamily="34" charset="-120"/>
                        </a:rPr>
                        <a:t>M4</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LogReg: v3 + age + sex (k=8) ★</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0.651</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65760">
                <a:tc>
                  <a:txBody>
                    <a:bodyPr/>
                    <a:lstStyle/>
                    <a:p>
                      <a:pPr marL="0" indent="0">
                        <a:buNone/>
                      </a:pPr>
                      <a:r>
                        <a:rPr lang="en-US" sz="1100" dirty="0" b="1">
                          <a:solidFill>
                            <a:srgbClr val="000000"/>
                          </a:solidFill>
                          <a:latin typeface="Calibri" pitchFamily="34" charset="0"/>
                          <a:ea typeface="Calibri" pitchFamily="34" charset="-122"/>
                          <a:cs typeface="Calibri" pitchFamily="34" charset="-120"/>
                        </a:rPr>
                        <a:t>M5</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RandomForest: v3 gait + turns</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0.593</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65760">
                <a:tc>
                  <a:txBody>
                    <a:bodyPr/>
                    <a:lstStyle/>
                    <a:p>
                      <a:pPr marL="0" indent="0">
                        <a:buNone/>
                      </a:pPr>
                      <a:r>
                        <a:rPr lang="en-US" sz="1100" dirty="0" b="1">
                          <a:solidFill>
                            <a:srgbClr val="000000"/>
                          </a:solidFill>
                          <a:latin typeface="Calibri" pitchFamily="34" charset="0"/>
                          <a:ea typeface="Calibri" pitchFamily="34" charset="-122"/>
                          <a:cs typeface="Calibri" pitchFamily="34" charset="-120"/>
                        </a:rPr>
                        <a:t>M6</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RandomForest: v3 + age + sex</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0.586</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graphicFrame>
        <p:nvGraphicFramePr>
          <p:cNvPr id="6" name="Table 6"/>
          <p:cNvGraphicFramePr>
            <a:graphicFrameLocks noGrp="1"/>
          </p:cNvGraphicFramePr>
          <p:nvPr>
            <p:extLst>
              <p:ext uri="{D42A27DB-BD31-4B8C-83A1-F6EECF244321}">
                <p14:modId xmlns:p14="http://schemas.microsoft.com/office/powerpoint/2010/main" val="1579011935"/>
              </p:ext>
            </p:extLst>
          </p:nvPr>
        </p:nvGraphicFramePr>
        <p:xfrm>
          <a:off x="5852160" y="1188720"/>
          <a:ext cx="5577840" cy="2240280"/>
        </p:xfrm>
        <a:graphic>
          <a:graphicData uri="http://schemas.openxmlformats.org/drawingml/2006/table">
            <a:tbl>
              <a:tblPr/>
              <a:tblGrid>
                <a:gridCol w="548640"/>
                <a:gridCol w="3657600"/>
                <a:gridCol w="548640"/>
                <a:gridCol w="822960"/>
              </a:tblGrid>
              <a:tr h="411480">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Exp 3</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Daily life, 3-day recordings</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AUC</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r>
              <a:tr h="365760">
                <a:tc>
                  <a:txBody>
                    <a:bodyPr/>
                    <a:lstStyle/>
                    <a:p>
                      <a:pPr marL="0" indent="0">
                        <a:buNone/>
                      </a:pPr>
                      <a:r>
                        <a:rPr lang="en-US" sz="1100" dirty="0" b="1">
                          <a:solidFill>
                            <a:srgbClr val="000000"/>
                          </a:solidFill>
                          <a:latin typeface="Calibri" pitchFamily="34" charset="0"/>
                          <a:ea typeface="Calibri" pitchFamily="34" charset="-122"/>
                          <a:cs typeface="Calibri" pitchFamily="34" charset="-120"/>
                        </a:rPr>
                        <a:t>M0</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Lab v2 index, same subjects (reference)</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64</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0.655</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65760">
                <a:tc>
                  <a:txBody>
                    <a:bodyPr/>
                    <a:lstStyle/>
                    <a:p>
                      <a:pPr marL="0" indent="0">
                        <a:buNone/>
                      </a:pPr>
                      <a:r>
                        <a:rPr lang="en-US" sz="1100" dirty="0" b="1">
                          <a:solidFill>
                            <a:srgbClr val="000000"/>
                          </a:solidFill>
                          <a:latin typeface="Calibri" pitchFamily="34" charset="0"/>
                          <a:ea typeface="Calibri" pitchFamily="34" charset="-122"/>
                          <a:cs typeface="Calibri" pitchFamily="34" charset="-120"/>
                        </a:rPr>
                        <a:t>D0</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Daily-life index (untrained)</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71</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0.587</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65760">
                <a:tc>
                  <a:txBody>
                    <a:bodyPr/>
                    <a:lstStyle/>
                    <a:p>
                      <a:pPr marL="0" indent="0">
                        <a:buNone/>
                      </a:pPr>
                      <a:r>
                        <a:rPr lang="en-US" sz="1100" dirty="0" b="1">
                          <a:solidFill>
                            <a:srgbClr val="000000"/>
                          </a:solidFill>
                          <a:latin typeface="Calibri" pitchFamily="34" charset="0"/>
                          <a:ea typeface="Calibri" pitchFamily="34" charset="-122"/>
                          <a:cs typeface="Calibri" pitchFamily="34" charset="-120"/>
                        </a:rPr>
                        <a:t>D1</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Combined lab + daily index (untrained) ★</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64</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0.636</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65760">
                <a:tc>
                  <a:txBody>
                    <a:bodyPr/>
                    <a:lstStyle/>
                    <a:p>
                      <a:pPr marL="0" indent="0">
                        <a:buNone/>
                      </a:pPr>
                      <a:r>
                        <a:rPr lang="en-US" sz="1100" dirty="0" b="1">
                          <a:solidFill>
                            <a:srgbClr val="000000"/>
                          </a:solidFill>
                          <a:latin typeface="Calibri" pitchFamily="34" charset="0"/>
                          <a:ea typeface="Calibri" pitchFamily="34" charset="-122"/>
                          <a:cs typeface="Calibri" pitchFamily="34" charset="-120"/>
                        </a:rPr>
                        <a:t>D2</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LogReg: daily features</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71</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0.519</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65760">
                <a:tc>
                  <a:txBody>
                    <a:bodyPr/>
                    <a:lstStyle/>
                    <a:p>
                      <a:pPr marL="0" indent="0">
                        <a:buNone/>
                      </a:pPr>
                      <a:r>
                        <a:rPr lang="en-US" sz="1100" dirty="0" b="1">
                          <a:solidFill>
                            <a:srgbClr val="000000"/>
                          </a:solidFill>
                          <a:latin typeface="Calibri" pitchFamily="34" charset="0"/>
                          <a:ea typeface="Calibri" pitchFamily="34" charset="-122"/>
                          <a:cs typeface="Calibri" pitchFamily="34" charset="-120"/>
                        </a:rPr>
                        <a:t>D3</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LogReg: lab + daily (k=6)</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64</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0.650</a:t>
                      </a:r>
                      <a:endParaRPr lang="en-US" sz="11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7" name="TextBox 6"/>
          <p:cNvSpPr txBox="1"/>
          <p:nvPr/>
        </p:nvSpPr>
        <p:spPr>
          <a:xfrm>
            <a:off x="5852160" y="3703320"/>
            <a:ext cx="5852160" cy="2560320"/>
          </a:xfrm>
          <a:prstGeom prst="rect">
            <a:avLst/>
          </a:prstGeom>
          <a:noFill/>
        </p:spPr>
        <p:txBody>
          <a:bodyPr wrap="square" lIns="45720" rIns="45720">
            <a:spAutoFit/>
          </a:bodyPr>
          <a:lstStyle/>
          <a:p>
            <a:pPr marL="177800" indent="-177800">
              <a:spcAft>
                <a:spcPts val="600"/>
              </a:spcAft>
              <a:buChar char="•"/>
            </a:pPr>
            <a:r>
              <a:rPr sz="1300" b="0">
                <a:solidFill>
                  <a:srgbClr val="000000"/>
                </a:solidFill>
                <a:latin typeface="Calibri"/>
              </a:rPr>
              <a:t>Pre-registered, every model reported: more features and complex models did not beat M0</a:t>
            </a:r>
          </a:p>
          <a:p>
            <a:pPr marL="177800" indent="-177800">
              <a:spcAft>
                <a:spcPts val="600"/>
              </a:spcAft>
              <a:buChar char="•"/>
            </a:pPr>
            <a:r>
              <a:rPr sz="1300" b="0">
                <a:solidFill>
                  <a:srgbClr val="000000"/>
                </a:solidFill>
                <a:latin typeface="Calibri"/>
              </a:rPr>
              <a:t>Daily-life gait did not improve on the same subjects: best D3 0.650 vs lab M0 0.655</a:t>
            </a:r>
          </a:p>
          <a:p>
            <a:pPr marL="177800" indent="-177800">
              <a:spcAft>
                <a:spcPts val="600"/>
              </a:spcAft>
              <a:buChar char="•"/>
            </a:pPr>
            <a:r>
              <a:rPr sz="1300" b="0">
                <a:solidFill>
                  <a:srgbClr val="000000"/>
                </a:solidFill>
                <a:latin typeface="Calibri"/>
              </a:rPr>
              <a:t>Cadence is the consistent marker: lab AUC 0.770, daily life 0.659</a:t>
            </a:r>
          </a:p>
          <a:p>
            <a:pPr marL="177800" indent="-177800">
              <a:spcAft>
                <a:spcPts val="600"/>
              </a:spcAft>
              <a:buChar char="•"/>
            </a:pPr>
            <a:r>
              <a:rPr sz="1300" b="0">
                <a:solidFill>
                  <a:srgbClr val="000000"/>
                </a:solidFill>
                <a:latin typeface="Calibri"/>
              </a:rPr>
              <a:t>Askhatova 2026: 0.749 with 3-day data + deep network (black box)</a:t>
            </a:r>
          </a:p>
        </p:txBody>
      </p:sp>
      <p:sp>
        <p:nvSpPr>
          <p:cNvPr id="8" name="TextBox 7"/>
          <p:cNvSpPr txBox="1"/>
          <p:nvPr/>
        </p:nvSpPr>
        <p:spPr>
          <a:xfrm>
            <a:off x="548640" y="4251960"/>
            <a:ext cx="5029200" cy="411480"/>
          </a:xfrm>
          <a:prstGeom prst="rect">
            <a:avLst/>
          </a:prstGeom>
          <a:noFill/>
        </p:spPr>
        <p:txBody>
          <a:bodyPr wrap="square" lIns="45720" rIns="45720">
            <a:spAutoFit/>
          </a:bodyPr>
          <a:lstStyle/>
          <a:p>
            <a:pPr>
              <a:spcAft>
                <a:spcPts val="600"/>
              </a:spcAft>
            </a:pPr>
            <a:r>
              <a:rPr sz="1100" b="0">
                <a:solidFill>
                  <a:srgbClr val="595959"/>
                </a:solidFill>
                <a:latin typeface="Calibri"/>
              </a:rPr>
              <a:t>★ primary model. Trained models: mean over 20×5 subject-wise CV.</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Results (contd.): Agent Versions A–D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graphicFrame>
        <p:nvGraphicFramePr>
          <p:cNvPr id="5" name="Table 5"/>
          <p:cNvGraphicFramePr>
            <a:graphicFrameLocks noGrp="1"/>
          </p:cNvGraphicFramePr>
          <p:nvPr>
            <p:extLst>
              <p:ext uri="{D42A27DB-BD31-4B8C-83A1-F6EECF244321}">
                <p14:modId xmlns:p14="http://schemas.microsoft.com/office/powerpoint/2010/main" val="1579011935"/>
              </p:ext>
            </p:extLst>
          </p:nvPr>
        </p:nvGraphicFramePr>
        <p:xfrm>
          <a:off x="548640" y="1188720"/>
          <a:ext cx="8046720" cy="2167128"/>
        </p:xfrm>
        <a:graphic>
          <a:graphicData uri="http://schemas.openxmlformats.org/drawingml/2006/table">
            <a:tbl>
              <a:tblPr/>
              <a:tblGrid>
                <a:gridCol w="2926080"/>
                <a:gridCol w="1417320"/>
                <a:gridCol w="1188720"/>
                <a:gridCol w="1325880"/>
                <a:gridCol w="1188720"/>
              </a:tblGrid>
              <a:tr h="411480">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Version</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Emergencies caught</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False alarms</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Strict grounding</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Stale data disclosed</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r>
              <a:tr h="438912">
                <a:tc>
                  <a:txBody>
                    <a:bodyPr/>
                    <a:lstStyle/>
                    <a:p>
                      <a:pPr marL="0" indent="0">
                        <a:buNone/>
                      </a:pPr>
                      <a:r>
                        <a:rPr lang="en-US" sz="1200" dirty="0" b="1">
                          <a:solidFill>
                            <a:srgbClr val="000000"/>
                          </a:solidFill>
                          <a:latin typeface="Calibri" pitchFamily="34" charset="0"/>
                          <a:ea typeface="Calibri" pitchFamily="34" charset="-122"/>
                          <a:cs typeface="Calibri" pitchFamily="34" charset="-120"/>
                        </a:rPr>
                        <a:t>A · Plain LLM</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0/3</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0/8</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0.723</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0/1</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marL="0" indent="0">
                        <a:buNone/>
                      </a:pPr>
                      <a:r>
                        <a:rPr lang="en-US" sz="1200" dirty="0" b="1">
                          <a:solidFill>
                            <a:srgbClr val="000000"/>
                          </a:solidFill>
                          <a:latin typeface="Calibri" pitchFamily="34" charset="0"/>
                          <a:ea typeface="Calibri" pitchFamily="34" charset="-122"/>
                          <a:cs typeface="Calibri" pitchFamily="34" charset="-120"/>
                        </a:rPr>
                        <a:t>B · Plain RAG</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0/3</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0/8</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0.606</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0/1</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marL="0" indent="0">
                        <a:buNone/>
                      </a:pPr>
                      <a:r>
                        <a:rPr lang="en-US" sz="1200" dirty="0" b="1">
                          <a:solidFill>
                            <a:srgbClr val="000000"/>
                          </a:solidFill>
                          <a:latin typeface="Calibri" pitchFamily="34" charset="0"/>
                          <a:ea typeface="Calibri" pitchFamily="34" charset="-122"/>
                          <a:cs typeface="Calibri" pitchFamily="34" charset="-120"/>
                        </a:rPr>
                        <a:t>C · Fetch-all + keyword safety</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2/3</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0/8</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0.955</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0/1</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marL="0" indent="0">
                        <a:buNone/>
                      </a:pPr>
                      <a:r>
                        <a:rPr lang="en-US" sz="1200" dirty="0" b="1">
                          <a:solidFill>
                            <a:srgbClr val="000000"/>
                          </a:solidFill>
                          <a:latin typeface="Calibri" pitchFamily="34" charset="0"/>
                          <a:ea typeface="Calibri" pitchFamily="34" charset="-122"/>
                          <a:cs typeface="Calibri" pitchFamily="34" charset="-120"/>
                        </a:rPr>
                        <a:t>D · Ours</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3/3</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0/8</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0.979</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1/1</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pic>
        <p:nvPicPr>
          <p:cNvPr id="6" name="Picture 5" descr="fall_emergency_detection.png"/>
          <p:cNvPicPr>
            <a:picLocks noChangeAspect="1"/>
          </p:cNvPicPr>
          <p:nvPr/>
        </p:nvPicPr>
        <p:blipFill>
          <a:blip r:embed="rId3"/>
          <a:stretch>
            <a:fillRect/>
          </a:stretch>
        </p:blipFill>
        <p:spPr>
          <a:xfrm>
            <a:off x="895056" y="3611880"/>
            <a:ext cx="4747846" cy="2743200"/>
          </a:xfrm>
          <a:prstGeom prst="rect">
            <a:avLst/>
          </a:prstGeom>
        </p:spPr>
      </p:pic>
      <p:pic>
        <p:nvPicPr>
          <p:cNvPr id="7" name="Picture 6" descr="fall_grounding.png"/>
          <p:cNvPicPr>
            <a:picLocks noChangeAspect="1"/>
          </p:cNvPicPr>
          <p:nvPr/>
        </p:nvPicPr>
        <p:blipFill>
          <a:blip r:embed="rId4"/>
          <a:stretch>
            <a:fillRect/>
          </a:stretch>
        </p:blipFill>
        <p:spPr>
          <a:xfrm>
            <a:off x="6652259" y="3611880"/>
            <a:ext cx="4663440" cy="2743200"/>
          </a:xfrm>
          <a:prstGeom prst="rect">
            <a:avLst/>
          </a:prstGeom>
        </p:spPr>
      </p:pic>
      <p:sp>
        <p:nvSpPr>
          <p:cNvPr id="8" name="TextBox 7"/>
          <p:cNvSpPr txBox="1"/>
          <p:nvPr/>
        </p:nvSpPr>
        <p:spPr>
          <a:xfrm>
            <a:off x="8869680" y="1188720"/>
            <a:ext cx="2834640" cy="2377440"/>
          </a:xfrm>
          <a:prstGeom prst="rect">
            <a:avLst/>
          </a:prstGeom>
          <a:noFill/>
        </p:spPr>
        <p:txBody>
          <a:bodyPr wrap="square" lIns="45720" rIns="45720">
            <a:spAutoFit/>
          </a:bodyPr>
          <a:lstStyle/>
          <a:p>
            <a:pPr marL="177800" indent="-177800">
              <a:spcAft>
                <a:spcPts val="600"/>
              </a:spcAft>
              <a:buChar char="•"/>
            </a:pPr>
            <a:r>
              <a:rPr sz="1200" b="0">
                <a:solidFill>
                  <a:srgbClr val="000000"/>
                </a:solidFill>
                <a:latin typeface="Calibri"/>
              </a:rPr>
              <a:t>11 scenarios, 1 run each</a:t>
            </a:r>
          </a:p>
          <a:p>
            <a:pPr marL="177800" indent="-177800">
              <a:spcAft>
                <a:spcPts val="600"/>
              </a:spcAft>
              <a:buChar char="•"/>
            </a:pPr>
            <a:r>
              <a:rPr sz="1200" b="0">
                <a:solidFill>
                  <a:srgbClr val="000000"/>
                </a:solidFill>
                <a:latin typeface="Calibri"/>
              </a:rPr>
              <a:t>D fetched 0.88 streams per reply; C fetches all 12</a:t>
            </a:r>
          </a:p>
          <a:p>
            <a:pPr marL="177800" indent="-177800">
              <a:spcAft>
                <a:spcPts val="600"/>
              </a:spcAft>
              <a:buChar char="•"/>
            </a:pPr>
            <a:r>
              <a:rPr sz="1200" b="0">
                <a:solidFill>
                  <a:srgbClr val="000000"/>
                </a:solidFill>
                <a:latin typeface="Calibri"/>
              </a:rPr>
              <a:t>Self-verification fired 1/11: 0.80 → 1.00</a:t>
            </a:r>
          </a:p>
          <a:p>
            <a:pPr marL="177800" indent="-177800">
              <a:spcAft>
                <a:spcPts val="600"/>
              </a:spcAft>
              <a:buChar char="•"/>
            </a:pPr>
            <a:r>
              <a:rPr sz="1200" b="0">
                <a:solidFill>
                  <a:srgbClr val="000000"/>
                </a:solidFill>
                <a:latin typeface="Calibri"/>
              </a:rPr>
              <a:t>Latency D 19.61 s vs C 15.98 s (batch run, rate-limit retries): not faster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Live Demo</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graphicFrame>
        <p:nvGraphicFramePr>
          <p:cNvPr id="5" name="Table 5"/>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2971800"/>
        </p:xfrm>
        <a:graphic>
          <a:graphicData uri="http://schemas.openxmlformats.org/drawingml/2006/table">
            <a:tbl>
              <a:tblPr/>
              <a:tblGrid>
                <a:gridCol w="548640"/>
                <a:gridCol w="1554480"/>
                <a:gridCol w="3566160"/>
                <a:gridCol w="5394960"/>
              </a:tblGrid>
              <a:tr h="411480">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User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Message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What to point out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r>
              <a:tr h="640080">
                <a:tc>
                  <a:txBody>
                    <a:bodyPr/>
                    <a:lstStyle/>
                    <a:p>
                      <a:pPr marL="0" indent="0">
                        <a:buNone/>
                      </a:pPr>
                      <a:r>
                        <a:rPr lang="en-US" sz="1300" dirty="0">
                          <a:solidFill>
                            <a:srgbClr val="000000"/>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00" dirty="0">
                          <a:solidFill>
                            <a:srgbClr val="000000"/>
                          </a:solidFill>
                          <a:latin typeface="Calibri" pitchFamily="34" charset="0"/>
                          <a:ea typeface="Calibri" pitchFamily="34" charset="-122"/>
                          <a:cs typeface="Calibri" pitchFamily="34" charset="-120"/>
                        </a:rPr>
                        <a:t>Meera</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00" dirty="0">
                          <a:solidFill>
                            <a:srgbClr val="000000"/>
                          </a:solidFill>
                          <a:latin typeface="Calibri" pitchFamily="34" charset="0"/>
                          <a:ea typeface="Calibri" pitchFamily="34" charset="-122"/>
                          <a:cs typeface="Calibri" pitchFamily="34" charset="-120"/>
                        </a:rPr>
                        <a:t>What's my fall risk today?</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00" dirty="0">
                          <a:solidFill>
                            <a:srgbClr val="000000"/>
                          </a:solidFill>
                          <a:latin typeface="Calibri" pitchFamily="34" charset="0"/>
                          <a:ea typeface="Calibri" pitchFamily="34" charset="-122"/>
                          <a:cs typeface="Calibri" pitchFamily="34" charset="-120"/>
                        </a:rPr>
                        <a:t>Score, tier, top contributors, cycle adjustment; grounding 1.00 in the evaluation</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40080">
                <a:tc>
                  <a:txBody>
                    <a:bodyPr/>
                    <a:lstStyle/>
                    <a:p>
                      <a:pPr marL="0" indent="0">
                        <a:buNone/>
                      </a:pPr>
                      <a:r>
                        <a:rPr lang="en-US" sz="1300" dirty="0">
                          <a:solidFill>
                            <a:srgbClr val="000000"/>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00" dirty="0">
                          <a:solidFill>
                            <a:srgbClr val="000000"/>
                          </a:solidFill>
                          <a:latin typeface="Calibri" pitchFamily="34" charset="0"/>
                          <a:ea typeface="Calibri" pitchFamily="34" charset="-122"/>
                          <a:cs typeface="Calibri" pitchFamily="34" charset="-120"/>
                        </a:rPr>
                        <a:t>Meera</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00" dirty="0">
                          <a:solidFill>
                            <a:srgbClr val="000000"/>
                          </a:solidFill>
                          <a:latin typeface="Calibri" pitchFamily="34" charset="0"/>
                          <a:ea typeface="Calibri" pitchFamily="34" charset="-122"/>
                          <a:cs typeface="Calibri" pitchFamily="34" charset="-120"/>
                        </a:rPr>
                        <a:t>I fell asleep on the couch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00" dirty="0">
                          <a:solidFill>
                            <a:srgbClr val="000000"/>
                          </a:solidFill>
                          <a:latin typeface="Calibri" pitchFamily="34" charset="0"/>
                          <a:ea typeface="Calibri" pitchFamily="34" charset="-122"/>
                          <a:cs typeface="Calibri" pitchFamily="34" charset="-120"/>
                        </a:rPr>
                        <a:t>No false alarm (guarded fall pattern)</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40080">
                <a:tc>
                  <a:txBody>
                    <a:bodyPr/>
                    <a:lstStyle/>
                    <a:p>
                      <a:pPr marL="0" indent="0">
                        <a:buNone/>
                      </a:pPr>
                      <a:r>
                        <a:rPr lang="en-US" sz="1300" dirty="0">
                          <a:solidFill>
                            <a:srgbClr val="000000"/>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00" dirty="0">
                          <a:solidFill>
                            <a:srgbClr val="000000"/>
                          </a:solidFill>
                          <a:latin typeface="Calibri" pitchFamily="34" charset="0"/>
                          <a:ea typeface="Calibri" pitchFamily="34" charset="-122"/>
                          <a:cs typeface="Calibri" pitchFamily="34" charset="-120"/>
                        </a:rPr>
                        <a:t>/user lakshmi</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00" dirty="0">
                          <a:solidFill>
                            <a:srgbClr val="000000"/>
                          </a:solidFill>
                          <a:latin typeface="Calibri" pitchFamily="34" charset="0"/>
                          <a:ea typeface="Calibri" pitchFamily="34" charset="-122"/>
                          <a:cs typeface="Calibri" pitchFamily="34" charset="-120"/>
                        </a:rPr>
                        <a:t>I'm fine, just a bit shaken</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00" dirty="0">
                          <a:solidFill>
                            <a:srgbClr val="000000"/>
                          </a:solidFill>
                          <a:latin typeface="Calibri" pitchFamily="34" charset="0"/>
                          <a:ea typeface="Calibri" pitchFamily="34" charset="-122"/>
                          <a:cs typeface="Calibri" pitchFamily="34" charset="-120"/>
                        </a:rPr>
                        <a:t>EMERGENCY from the ring fall event; LLM alone said no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40080">
                <a:tc>
                  <a:txBody>
                    <a:bodyPr/>
                    <a:lstStyle/>
                    <a:p>
                      <a:pPr marL="0" indent="0">
                        <a:buNone/>
                      </a:pPr>
                      <a:r>
                        <a:rPr lang="en-US" sz="1300" dirty="0">
                          <a:solidFill>
                            <a:srgbClr val="000000"/>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00" dirty="0">
                          <a:solidFill>
                            <a:srgbClr val="000000"/>
                          </a:solidFill>
                          <a:latin typeface="Calibri" pitchFamily="34" charset="0"/>
                          <a:ea typeface="Calibri" pitchFamily="34" charset="-122"/>
                          <a:cs typeface="Calibri" pitchFamily="34" charset="-120"/>
                        </a:rPr>
                        <a:t>/user ravi</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00" dirty="0">
                          <a:solidFill>
                            <a:srgbClr val="000000"/>
                          </a:solidFill>
                          <a:latin typeface="Calibri" pitchFamily="34" charset="0"/>
                          <a:ea typeface="Calibri" pitchFamily="34" charset="-122"/>
                          <a:cs typeface="Calibri" pitchFamily="34" charset="-120"/>
                        </a:rPr>
                        <a:t>What's my fall risk today?</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00" dirty="0">
                          <a:solidFill>
                            <a:srgbClr val="000000"/>
                          </a:solidFill>
                          <a:latin typeface="Calibri" pitchFamily="34" charset="0"/>
                          <a:ea typeface="Calibri" pitchFamily="34" charset="-122"/>
                          <a:cs typeface="Calibri" pitchFamily="34" charset="-120"/>
                        </a:rPr>
                        <a:t>Discloses stale data, lower confidence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6" name="TextBox 5"/>
          <p:cNvSpPr txBox="1"/>
          <p:nvPr/>
        </p:nvSpPr>
        <p:spPr>
          <a:xfrm>
            <a:off x="548640" y="4572000"/>
            <a:ext cx="10972800" cy="1097280"/>
          </a:xfrm>
          <a:prstGeom prst="rect">
            <a:avLst/>
          </a:prstGeom>
          <a:noFill/>
        </p:spPr>
        <p:txBody>
          <a:bodyPr wrap="square" lIns="45720" rIns="45720">
            <a:spAutoFit/>
          </a:bodyPr>
          <a:lstStyle/>
          <a:p>
            <a:pPr marL="177800" indent="-177800">
              <a:spcAft>
                <a:spcPts val="600"/>
              </a:spcAft>
              <a:buChar char="•"/>
            </a:pPr>
            <a:r>
              <a:rPr sz="1400" b="0">
                <a:solidFill>
                  <a:srgbClr val="000000"/>
                </a:solidFill>
                <a:latin typeface="Calibri"/>
              </a:rPr>
              <a:t>Run: py demo_display.py (switch users with /user &lt;name&gt;)</a:t>
            </a:r>
          </a:p>
          <a:p>
            <a:pPr marL="177800" indent="-177800">
              <a:spcAft>
                <a:spcPts val="600"/>
              </a:spcAft>
              <a:buChar char="•"/>
            </a:pPr>
            <a:r>
              <a:rPr sz="1400" b="0">
                <a:solidFill>
                  <a:srgbClr val="000000"/>
                </a:solidFill>
                <a:latin typeface="Calibri"/>
              </a:rPr>
              <a:t>Backup: recorded video of the same four steps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Challenges &amp; Remaining Work</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 2"/>
          <p:cNvSpPr txBox="1"/>
          <p:nvPr/>
        </p:nvSpPr>
        <p:spPr>
          <a:xfrm>
            <a:off x="6675120" y="1234440"/>
            <a:ext cx="5029200" cy="4937760"/>
          </a:xfrm>
          <a:prstGeom prst="rect">
            <a:avLst/>
          </a:prstGeom>
          <a:noFill/>
          <a:ln/>
        </p:spPr>
        <p:txBody>
          <a:bodyPr wrap="square" lIns="0" tIns="0" rIns="0" bIns="0" rtlCol="0" anchor="t"/>
          <a:lstStyle/>
          <a:p>
            <a:pPr marL="0" indent="0">
              <a:spcAft>
                <a:spcPts val="800"/>
              </a:spcAft>
              <a:buNone/>
            </a:pPr>
            <a:r>
              <a:rPr lang="en-US" sz="1400" dirty="0" b="1">
                <a:solidFill>
                  <a:srgbClr val="1D2F82"/>
                </a:solidFill>
                <a:latin typeface="Calibri" pitchFamily="34" charset="0"/>
                <a:ea typeface="Calibri" pitchFamily="34" charset="-122"/>
                <a:cs typeface="Calibri" pitchFamily="34" charset="-120"/>
              </a:rPr>
              <a:t>Limitations we state ourselves</a:t>
            </a:r>
            <a:endParaRPr lang="en-US" sz="1600" dirty="0"/>
          </a:p>
          <a:p>
            <a:pPr marL="177800" indent="-177800">
              <a:spcAft>
                <a:spcPts val="800"/>
              </a:spcAft>
              <a:buSzPct val="100000"/>
              <a:buChar char="•"/>
            </a:pPr>
            <a:r>
              <a:rPr lang="en-US" sz="1400" dirty="0">
                <a:solidFill>
                  <a:srgbClr val="000000"/>
                </a:solidFill>
                <a:latin typeface="Calibri" pitchFamily="34" charset="0"/>
                <a:ea typeface="Calibri" pitchFamily="34" charset="-122"/>
                <a:cs typeface="Calibri" pitchFamily="34" charset="-120"/>
              </a:rPr>
              <a:t>Retrospective fall labels: discrimination, not prediction</a:t>
            </a:r>
            <a:endParaRPr lang="en-US" sz="1600" dirty="0"/>
          </a:p>
          <a:p>
            <a:pPr marL="177800" indent="-177800">
              <a:spcAft>
                <a:spcPts val="800"/>
              </a:spcAft>
              <a:buSzPct val="100000"/>
              <a:buChar char="•"/>
            </a:pPr>
            <a:r>
              <a:rPr lang="en-US" sz="1400" dirty="0">
                <a:solidFill>
                  <a:srgbClr val="000000"/>
                </a:solidFill>
                <a:latin typeface="Calibri" pitchFamily="34" charset="0"/>
                <a:ea typeface="Calibri" pitchFamily="34" charset="-122"/>
                <a:cs typeface="Calibri" pitchFamily="34" charset="-120"/>
              </a:rPr>
              <a:t>Lower-back sensor, not the ring</a:t>
            </a:r>
            <a:endParaRPr lang="en-US" sz="1600" dirty="0"/>
          </a:p>
          <a:p>
            <a:pPr marL="177800" indent="-177800">
              <a:spcAft>
                <a:spcPts val="800"/>
              </a:spcAft>
              <a:buSzPct val="100000"/>
              <a:buChar char="•"/>
            </a:pPr>
            <a:r>
              <a:rPr lang="en-US" sz="1400" dirty="0">
                <a:solidFill>
                  <a:srgbClr val="000000"/>
                </a:solidFill>
                <a:latin typeface="Calibri" pitchFamily="34" charset="0"/>
                <a:ea typeface="Calibri" pitchFamily="34" charset="-122"/>
                <a:cs typeface="Calibri" pitchFamily="34" charset="-120"/>
              </a:rPr>
              <a:t>Small sample: n = 73 lab walks</a:t>
            </a:r>
            <a:endParaRPr lang="en-US" sz="1600" dirty="0"/>
          </a:p>
          <a:p>
            <a:pPr marL="177800" indent="-177800">
              <a:spcAft>
                <a:spcPts val="800"/>
              </a:spcAft>
              <a:buSzPct val="100000"/>
              <a:buChar char="•"/>
            </a:pPr>
            <a:r>
              <a:rPr lang="en-US" sz="1400" dirty="0">
                <a:solidFill>
                  <a:srgbClr val="000000"/>
                </a:solidFill>
                <a:latin typeface="Calibri" pitchFamily="34" charset="0"/>
                <a:ea typeface="Calibri" pitchFamily="34" charset="-122"/>
                <a:cs typeface="Calibri" pitchFamily="34" charset="-120"/>
              </a:rPr>
              <a:t>Synthetic demo cohort for engine and agent tests</a:t>
            </a:r>
            <a:endParaRPr lang="en-US" sz="1600" dirty="0"/>
          </a:p>
          <a:p>
            <a:pPr marL="177800" indent="-177800">
              <a:spcAft>
                <a:spcPts val="800"/>
              </a:spcAft>
              <a:buSzPct val="100000"/>
              <a:buChar char="•"/>
            </a:pPr>
            <a:r>
              <a:rPr lang="en-US" sz="1400" dirty="0">
                <a:solidFill>
                  <a:srgbClr val="000000"/>
                </a:solidFill>
                <a:latin typeface="Calibri" pitchFamily="34" charset="0"/>
                <a:ea typeface="Calibri" pitchFamily="34" charset="-122"/>
                <a:cs typeface="Calibri" pitchFamily="34" charset="-120"/>
              </a:rPr>
              <a:t>Evidence weights approximate (studies not jointly adjusted)</a:t>
            </a:r>
            <a:endParaRPr lang="en-US" sz="1600" dirty="0"/>
          </a:p>
          <a:p>
            <a:pPr marL="177800" indent="-177800">
              <a:spcAft>
                <a:spcPts val="800"/>
              </a:spcAft>
              <a:buSzPct val="100000"/>
              <a:buChar char="•"/>
            </a:pPr>
            <a:r>
              <a:rPr lang="en-US" sz="1400" dirty="0">
                <a:solidFill>
                  <a:srgbClr val="000000"/>
                </a:solidFill>
                <a:latin typeface="Calibri" pitchFamily="34" charset="0"/>
                <a:ea typeface="Calibri" pitchFamily="34" charset="-122"/>
                <a:cs typeface="Calibri" pitchFamily="34" charset="-120"/>
              </a:rPr>
              <a:t>No authentication yet</a:t>
            </a:r>
            <a:endParaRPr lang="en-US" sz="1600" dirty="0"/>
          </a:p>
        </p:txBody>
      </p:sp>
      <p:graphicFrame>
        <p:nvGraphicFramePr>
          <p:cNvPr id="6" name="Table 6"/>
          <p:cNvGraphicFramePr>
            <a:graphicFrameLocks noGrp="1"/>
          </p:cNvGraphicFramePr>
          <p:nvPr>
            <p:extLst>
              <p:ext uri="{D42A27DB-BD31-4B8C-83A1-F6EECF244321}">
                <p14:modId xmlns:p14="http://schemas.microsoft.com/office/powerpoint/2010/main" val="1579011935"/>
              </p:ext>
            </p:extLst>
          </p:nvPr>
        </p:nvGraphicFramePr>
        <p:xfrm>
          <a:off x="548640" y="1325880"/>
          <a:ext cx="5943600" cy="3703320"/>
        </p:xfrm>
        <a:graphic>
          <a:graphicData uri="http://schemas.openxmlformats.org/drawingml/2006/table">
            <a:tbl>
              <a:tblPr/>
              <a:tblGrid>
                <a:gridCol w="2651760"/>
                <a:gridCol w="3291840"/>
              </a:tblGrid>
              <a:tr h="411480">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Challenge</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Solution</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r>
              <a:tr h="658368">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API rate limits (429)</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Retry with backoff; batched evaluation pauses</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58368">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LLM hallucinated numbers</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Strict grounding + one self-verification retry</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58368">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Keyword false alarms (“fell asleep”)</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LLM override + guarded fall patterns</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58368">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Implausible gait variability (v1)</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Turn removal + McCamley detector (v2)</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58368">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No dataset with ring + falls + chat</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Validate each layer on its own data</a:t>
                      </a:r>
                      <a:endParaRPr lang="en-US" sz="12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Remaining Work (25%) &amp; Timeline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graphicFrame>
        <p:nvGraphicFramePr>
          <p:cNvPr id="5" name="Table 5"/>
          <p:cNvGraphicFramePr>
            <a:graphicFrameLocks noGrp="1"/>
          </p:cNvGraphicFramePr>
          <p:nvPr>
            <p:extLst>
              <p:ext uri="{D42A27DB-BD31-4B8C-83A1-F6EECF244321}">
                <p14:modId xmlns:p14="http://schemas.microsoft.com/office/powerpoint/2010/main" val="1579011935"/>
              </p:ext>
            </p:extLst>
          </p:nvPr>
        </p:nvGraphicFramePr>
        <p:xfrm>
          <a:off x="640080" y="1325880"/>
          <a:ext cx="10881359" cy="4379976"/>
        </p:xfrm>
        <a:graphic>
          <a:graphicData uri="http://schemas.openxmlformats.org/drawingml/2006/table">
            <a:tbl>
              <a:tblPr/>
              <a:tblGrid>
                <a:gridCol w="2377440"/>
                <a:gridCol w="6035040"/>
                <a:gridCol w="2468880"/>
              </a:tblGrid>
              <a:tr h="411480">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Dates (proposed)</a:t>
                      </a:r>
                      <a:endParaRPr lang="en-US" sz="14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Work item</a:t>
                      </a:r>
                      <a:endParaRPr lang="en-US" sz="14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Output</a:t>
                      </a:r>
                      <a:endParaRPr lang="en-US" sz="14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r>
              <a:tr h="566928">
                <a:tc>
                  <a:txBody>
                    <a:bodyPr/>
                    <a:lstStyle/>
                    <a:p>
                      <a:pPr marL="0" indent="0">
                        <a:buNone/>
                      </a:pPr>
                      <a:r>
                        <a:rPr lang="en-US" sz="1400" dirty="0" b="1">
                          <a:solidFill>
                            <a:srgbClr val="000000"/>
                          </a:solidFill>
                          <a:latin typeface="Calibri" pitchFamily="34" charset="0"/>
                          <a:ea typeface="Calibri" pitchFamily="34" charset="-122"/>
                          <a:cs typeface="Calibri" pitchFamily="34" charset="-120"/>
                        </a:rPr>
                        <a:t>01–07 Oct 2026</a:t>
                      </a:r>
                      <a:endParaRPr lang="en-US" sz="14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400" dirty="0">
                          <a:solidFill>
                            <a:srgbClr val="000000"/>
                          </a:solidFill>
                          <a:latin typeface="Calibri" pitchFamily="34" charset="0"/>
                          <a:ea typeface="Calibri" pitchFamily="34" charset="-122"/>
                          <a:cs typeface="Calibri" pitchFamily="34" charset="-120"/>
                        </a:rPr>
                        <a:t>Port the v2 gait algorithm to phone / ring IMU</a:t>
                      </a:r>
                      <a:endParaRPr lang="en-US" sz="14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400" dirty="0">
                          <a:solidFill>
                            <a:srgbClr val="000000"/>
                          </a:solidFill>
                          <a:latin typeface="Calibri" pitchFamily="34" charset="0"/>
                          <a:ea typeface="Calibri" pitchFamily="34" charset="-122"/>
                          <a:cs typeface="Calibri" pitchFamily="34" charset="-120"/>
                        </a:rPr>
                        <a:t>Motion layer from real gait</a:t>
                      </a:r>
                      <a:endParaRPr lang="en-US" sz="14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marL="0" indent="0">
                        <a:buNone/>
                      </a:pPr>
                      <a:r>
                        <a:rPr lang="en-US" sz="1400" dirty="0" b="1">
                          <a:solidFill>
                            <a:srgbClr val="000000"/>
                          </a:solidFill>
                          <a:latin typeface="Calibri" pitchFamily="34" charset="0"/>
                          <a:ea typeface="Calibri" pitchFamily="34" charset="-122"/>
                          <a:cs typeface="Calibri" pitchFamily="34" charset="-120"/>
                        </a:rPr>
                        <a:t>08–14 Oct 2026</a:t>
                      </a:r>
                      <a:endParaRPr lang="en-US" sz="14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400" dirty="0">
                          <a:solidFill>
                            <a:srgbClr val="000000"/>
                          </a:solidFill>
                          <a:latin typeface="Calibri" pitchFamily="34" charset="0"/>
                          <a:ea typeface="Calibri" pitchFamily="34" charset="-122"/>
                          <a:cs typeface="Calibri" pitchFamily="34" charset="-120"/>
                        </a:rPr>
                        <a:t>Validate the cycle layer on mcPHASES</a:t>
                      </a:r>
                      <a:endParaRPr lang="en-US" sz="14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400" dirty="0">
                          <a:solidFill>
                            <a:srgbClr val="000000"/>
                          </a:solidFill>
                          <a:latin typeface="Calibri" pitchFamily="34" charset="0"/>
                          <a:ea typeface="Calibri" pitchFamily="34" charset="-122"/>
                          <a:cs typeface="Calibri" pitchFamily="34" charset="-120"/>
                        </a:rPr>
                        <a:t>Cycle-layer results</a:t>
                      </a:r>
                      <a:endParaRPr lang="en-US" sz="14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marL="0" indent="0">
                        <a:buNone/>
                      </a:pPr>
                      <a:r>
                        <a:rPr lang="en-US" sz="1400" dirty="0" b="1">
                          <a:solidFill>
                            <a:srgbClr val="000000"/>
                          </a:solidFill>
                          <a:latin typeface="Calibri" pitchFamily="34" charset="0"/>
                          <a:ea typeface="Calibri" pitchFamily="34" charset="-122"/>
                          <a:cs typeface="Calibri" pitchFamily="34" charset="-120"/>
                        </a:rPr>
                        <a:t>08–14 Oct 2026</a:t>
                      </a:r>
                      <a:endParaRPr lang="en-US" sz="14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400" dirty="0">
                          <a:solidFill>
                            <a:srgbClr val="000000"/>
                          </a:solidFill>
                          <a:latin typeface="Calibri" pitchFamily="34" charset="0"/>
                          <a:ea typeface="Calibri" pitchFamily="34" charset="-122"/>
                          <a:cs typeface="Calibri" pitchFamily="34" charset="-120"/>
                        </a:rPr>
                        <a:t>Learn layer weights from data; compare with evidence weights</a:t>
                      </a:r>
                      <a:endParaRPr lang="en-US" sz="14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400" dirty="0">
                          <a:solidFill>
                            <a:srgbClr val="000000"/>
                          </a:solidFill>
                          <a:latin typeface="Calibri" pitchFamily="34" charset="0"/>
                          <a:ea typeface="Calibri" pitchFamily="34" charset="-122"/>
                          <a:cs typeface="Calibri" pitchFamily="34" charset="-120"/>
                        </a:rPr>
                        <a:t>Weight comparison</a:t>
                      </a:r>
                      <a:endParaRPr lang="en-US" sz="14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marL="0" indent="0">
                        <a:buNone/>
                      </a:pPr>
                      <a:r>
                        <a:rPr lang="en-US" sz="1400" dirty="0" b="1">
                          <a:solidFill>
                            <a:srgbClr val="000000"/>
                          </a:solidFill>
                          <a:latin typeface="Calibri" pitchFamily="34" charset="0"/>
                          <a:ea typeface="Calibri" pitchFamily="34" charset="-122"/>
                          <a:cs typeface="Calibri" pitchFamily="34" charset="-120"/>
                        </a:rPr>
                        <a:t>15–21 Oct 2026</a:t>
                      </a:r>
                      <a:endParaRPr lang="en-US" sz="14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400" dirty="0">
                          <a:solidFill>
                            <a:srgbClr val="000000"/>
                          </a:solidFill>
                          <a:latin typeface="Calibri" pitchFamily="34" charset="0"/>
                          <a:ea typeface="Calibri" pitchFamily="34" charset="-122"/>
                          <a:cs typeface="Calibri" pitchFamily="34" charset="-120"/>
                        </a:rPr>
                        <a:t>Flutter integration incl. the fall_risk card</a:t>
                      </a:r>
                      <a:endParaRPr lang="en-US" sz="14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400" dirty="0">
                          <a:solidFill>
                            <a:srgbClr val="000000"/>
                          </a:solidFill>
                          <a:latin typeface="Calibri" pitchFamily="34" charset="0"/>
                          <a:ea typeface="Calibri" pitchFamily="34" charset="-122"/>
                          <a:cs typeface="Calibri" pitchFamily="34" charset="-120"/>
                        </a:rPr>
                        <a:t>App build</a:t>
                      </a:r>
                      <a:endParaRPr lang="en-US" sz="14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marL="0" indent="0">
                        <a:buNone/>
                      </a:pPr>
                      <a:r>
                        <a:rPr lang="en-US" sz="1400" dirty="0" b="1">
                          <a:solidFill>
                            <a:srgbClr val="000000"/>
                          </a:solidFill>
                          <a:latin typeface="Calibri" pitchFamily="34" charset="0"/>
                          <a:ea typeface="Calibri" pitchFamily="34" charset="-122"/>
                          <a:cs typeface="Calibri" pitchFamily="34" charset="-120"/>
                        </a:rPr>
                        <a:t>15–21 Oct 2026</a:t>
                      </a:r>
                      <a:endParaRPr lang="en-US" sz="14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400" dirty="0">
                          <a:solidFill>
                            <a:srgbClr val="000000"/>
                          </a:solidFill>
                          <a:latin typeface="Calibri" pitchFamily="34" charset="0"/>
                          <a:ea typeface="Calibri" pitchFamily="34" charset="-122"/>
                          <a:cs typeface="Calibri" pitchFamily="34" charset="-120"/>
                        </a:rPr>
                        <a:t>Authentication: verified JWT + row-level security</a:t>
                      </a:r>
                      <a:endParaRPr lang="en-US" sz="14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400" dirty="0">
                          <a:solidFill>
                            <a:srgbClr val="000000"/>
                          </a:solidFill>
                          <a:latin typeface="Calibri" pitchFamily="34" charset="0"/>
                          <a:ea typeface="Calibri" pitchFamily="34" charset="-122"/>
                          <a:cs typeface="Calibri" pitchFamily="34" charset="-120"/>
                        </a:rPr>
                        <a:t>Secured API</a:t>
                      </a:r>
                      <a:endParaRPr lang="en-US" sz="14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marL="0" indent="0">
                        <a:buNone/>
                      </a:pPr>
                      <a:r>
                        <a:rPr lang="en-US" sz="1400" dirty="0" b="1">
                          <a:solidFill>
                            <a:srgbClr val="000000"/>
                          </a:solidFill>
                          <a:latin typeface="Calibri" pitchFamily="34" charset="0"/>
                          <a:ea typeface="Calibri" pitchFamily="34" charset="-122"/>
                          <a:cs typeface="Calibri" pitchFamily="34" charset="-120"/>
                        </a:rPr>
                        <a:t>22–27 Oct 2026</a:t>
                      </a:r>
                      <a:endParaRPr lang="en-US" sz="14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400" dirty="0">
                          <a:solidFill>
                            <a:srgbClr val="000000"/>
                          </a:solidFill>
                          <a:latin typeface="Calibri" pitchFamily="34" charset="0"/>
                          <a:ea typeface="Calibri" pitchFamily="34" charset="-122"/>
                          <a:cs typeface="Calibri" pitchFamily="34" charset="-120"/>
                        </a:rPr>
                        <a:t>Final report and slides</a:t>
                      </a:r>
                      <a:endParaRPr lang="en-US" sz="14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400" dirty="0">
                          <a:solidFill>
                            <a:srgbClr val="000000"/>
                          </a:solidFill>
                          <a:latin typeface="Calibri" pitchFamily="34" charset="0"/>
                          <a:ea typeface="Calibri" pitchFamily="34" charset="-122"/>
                          <a:cs typeface="Calibri" pitchFamily="34" charset="-120"/>
                        </a:rPr>
                        <a:t>Report</a:t>
                      </a:r>
                      <a:endParaRPr lang="en-US" sz="14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marL="0" indent="0">
                        <a:buNone/>
                      </a:pPr>
                      <a:r>
                        <a:rPr lang="en-US" sz="1400" dirty="0" b="1">
                          <a:solidFill>
                            <a:srgbClr val="000000"/>
                          </a:solidFill>
                          <a:latin typeface="Calibri" pitchFamily="34" charset="0"/>
                          <a:ea typeface="Calibri" pitchFamily="34" charset="-122"/>
                          <a:cs typeface="Calibri" pitchFamily="34" charset="-120"/>
                        </a:rPr>
                        <a:t>28 Oct 2026</a:t>
                      </a:r>
                      <a:endParaRPr lang="en-US" sz="14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400" dirty="0">
                          <a:solidFill>
                            <a:srgbClr val="000000"/>
                          </a:solidFill>
                          <a:latin typeface="Calibri" pitchFamily="34" charset="0"/>
                          <a:ea typeface="Calibri" pitchFamily="34" charset="-122"/>
                          <a:cs typeface="Calibri" pitchFamily="34" charset="-120"/>
                        </a:rPr>
                        <a:t>Review-III</a:t>
                      </a:r>
                      <a:endParaRPr lang="en-US" sz="14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400" dirty="0">
                          <a:solidFill>
                            <a:srgbClr val="000000"/>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(1/2)</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200" dirty="0">
                <a:solidFill>
                  <a:srgbClr val="000000"/>
                </a:solidFill>
                <a:latin typeface="Calibri" pitchFamily="34" charset="0"/>
                <a:ea typeface="Calibri" pitchFamily="34" charset="-122"/>
                <a:cs typeface="Calibri" pitchFamily="34" charset="-120"/>
              </a:rPr>
              <a:t>[1] {{Review-I paper 1: IEEE reference}}</a:t>
            </a:r>
            <a:endParaRPr lang="en-US" sz="1600" dirty="0"/>
          </a:p>
          <a:p>
            <a:pPr marL="177800" indent="-177800">
              <a:spcAft>
                <a:spcPts val="800"/>
              </a:spcAft>
              <a:buSzPct val="100000"/>
              <a:buChar char="•"/>
            </a:pPr>
            <a:r>
              <a:rPr lang="en-US" sz="1200" dirty="0">
                <a:solidFill>
                  <a:srgbClr val="000000"/>
                </a:solidFill>
                <a:latin typeface="Calibri" pitchFamily="34" charset="0"/>
                <a:ea typeface="Calibri" pitchFamily="34" charset="-122"/>
                <a:cs typeface="Calibri" pitchFamily="34" charset="-120"/>
              </a:rPr>
              <a:t>[2] {{Review-I paper 2: IEEE reference}}</a:t>
            </a:r>
            <a:endParaRPr lang="en-US" sz="1600" dirty="0"/>
          </a:p>
          <a:p>
            <a:pPr marL="177800" indent="-177800">
              <a:spcAft>
                <a:spcPts val="800"/>
              </a:spcAft>
              <a:buSzPct val="100000"/>
              <a:buChar char="•"/>
            </a:pPr>
            <a:r>
              <a:rPr lang="en-US" sz="1200" dirty="0">
                <a:solidFill>
                  <a:srgbClr val="000000"/>
                </a:solidFill>
                <a:latin typeface="Calibri" pitchFamily="34" charset="0"/>
                <a:ea typeface="Calibri" pitchFamily="34" charset="-122"/>
                <a:cs typeface="Calibri" pitchFamily="34" charset="-120"/>
              </a:rPr>
              <a:t>[3] {{Review-I paper 3: IEEE reference}}</a:t>
            </a:r>
            <a:endParaRPr lang="en-US" sz="1600" dirty="0"/>
          </a:p>
          <a:p>
            <a:pPr marL="177800" indent="-177800">
              <a:spcAft>
                <a:spcPts val="800"/>
              </a:spcAft>
              <a:buSzPct val="100000"/>
              <a:buChar char="•"/>
            </a:pPr>
            <a:r>
              <a:rPr lang="en-US" sz="1200" dirty="0">
                <a:solidFill>
                  <a:srgbClr val="000000"/>
                </a:solidFill>
                <a:latin typeface="Calibri" pitchFamily="34" charset="0"/>
                <a:ea typeface="Calibri" pitchFamily="34" charset="-122"/>
                <a:cs typeface="Calibri" pitchFamily="34" charset="-120"/>
              </a:rPr>
              <a:t>[4] {{Review-I paper 4: IEEE reference}}</a:t>
            </a:r>
            <a:endParaRPr lang="en-US" sz="1600" dirty="0"/>
          </a:p>
          <a:p>
            <a:pPr marL="177800" indent="-177800">
              <a:spcAft>
                <a:spcPts val="800"/>
              </a:spcAft>
              <a:buSzPct val="100000"/>
              <a:buChar char="•"/>
            </a:pPr>
            <a:r>
              <a:rPr lang="en-US" sz="1200" dirty="0">
                <a:solidFill>
                  <a:srgbClr val="000000"/>
                </a:solidFill>
                <a:latin typeface="Calibri" pitchFamily="34" charset="0"/>
                <a:ea typeface="Calibri" pitchFamily="34" charset="-122"/>
                <a:cs typeface="Calibri" pitchFamily="34" charset="-120"/>
              </a:rPr>
              <a:t>[5] {{Review-I paper 5: IEEE reference}}</a:t>
            </a:r>
            <a:endParaRPr lang="en-US" sz="1600" dirty="0"/>
          </a:p>
          <a:p>
            <a:pPr marL="177800" indent="-177800">
              <a:spcAft>
                <a:spcPts val="800"/>
              </a:spcAft>
              <a:buSzPct val="100000"/>
              <a:buChar char="•"/>
            </a:pPr>
            <a:r>
              <a:rPr lang="en-US" sz="1200" dirty="0">
                <a:solidFill>
                  <a:srgbClr val="000000"/>
                </a:solidFill>
                <a:latin typeface="Calibri" pitchFamily="34" charset="0"/>
                <a:ea typeface="Calibri" pitchFamily="34" charset="-122"/>
                <a:cs typeface="Calibri" pitchFamily="34" charset="-120"/>
              </a:rPr>
              <a:t>[6] {{Review-I paper 6: IEEE reference}}</a:t>
            </a:r>
            <a:endParaRPr lang="en-US" sz="1600" dirty="0"/>
          </a:p>
          <a:p>
            <a:pPr marL="177800" indent="-177800">
              <a:spcAft>
                <a:spcPts val="800"/>
              </a:spcAft>
              <a:buSzPct val="100000"/>
              <a:buChar char="•"/>
            </a:pPr>
            <a:r>
              <a:rPr lang="en-US" sz="1200" dirty="0">
                <a:solidFill>
                  <a:srgbClr val="000000"/>
                </a:solidFill>
                <a:latin typeface="Calibri" pitchFamily="34" charset="0"/>
                <a:ea typeface="Calibri" pitchFamily="34" charset="-122"/>
                <a:cs typeface="Calibri" pitchFamily="34" charset="-120"/>
              </a:rPr>
              <a:t>[7] {{Review-I paper 7: IEEE reference}}</a:t>
            </a:r>
            <a:endParaRPr lang="en-US" sz="1600" dirty="0"/>
          </a:p>
          <a:p>
            <a:pPr marL="177800" indent="-177800">
              <a:spcAft>
                <a:spcPts val="800"/>
              </a:spcAft>
              <a:buSzPct val="100000"/>
              <a:buChar char="•"/>
            </a:pPr>
            <a:r>
              <a:rPr lang="en-US" sz="1200" dirty="0">
                <a:solidFill>
                  <a:srgbClr val="000000"/>
                </a:solidFill>
                <a:latin typeface="Calibri" pitchFamily="34" charset="0"/>
                <a:ea typeface="Calibri" pitchFamily="34" charset="-122"/>
                <a:cs typeface="Calibri" pitchFamily="34" charset="-120"/>
              </a:rPr>
              <a:t>[8] {{Review-I paper 8: IEEE reference}}</a:t>
            </a:r>
            <a:endParaRPr lang="en-US" sz="1600" dirty="0"/>
          </a:p>
          <a:p>
            <a:pPr marL="177800" indent="-177800">
              <a:spcAft>
                <a:spcPts val="800"/>
              </a:spcAft>
              <a:buSzPct val="100000"/>
              <a:buChar char="•"/>
            </a:pPr>
            <a:r>
              <a:rPr lang="en-US" sz="1200" dirty="0">
                <a:solidFill>
                  <a:srgbClr val="000000"/>
                </a:solidFill>
                <a:latin typeface="Calibri" pitchFamily="34" charset="0"/>
                <a:ea typeface="Calibri" pitchFamily="34" charset="-122"/>
                <a:cs typeface="Calibri" pitchFamily="34" charset="-120"/>
              </a:rPr>
              <a:t>[9] {{Review-I paper 9: IEEE reference}}</a:t>
            </a:r>
            <a:endParaRPr lang="en-US" sz="1600" dirty="0"/>
          </a:p>
          <a:p>
            <a:pPr marL="177800" indent="-177800">
              <a:spcAft>
                <a:spcPts val="800"/>
              </a:spcAft>
              <a:buSzPct val="100000"/>
              <a:buChar char="•"/>
            </a:pPr>
            <a:r>
              <a:rPr lang="en-US" sz="1200" dirty="0">
                <a:solidFill>
                  <a:srgbClr val="000000"/>
                </a:solidFill>
                <a:latin typeface="Calibri" pitchFamily="34" charset="0"/>
                <a:ea typeface="Calibri" pitchFamily="34" charset="-122"/>
                <a:cs typeface="Calibri" pitchFamily="34" charset="-120"/>
              </a:rPr>
              <a:t>[10] {{Review-I paper 10: IEEE reference}}</a:t>
            </a:r>
            <a:endParaRPr lang="en-US" sz="1600" dirty="0"/>
          </a:p>
          <a:p>
            <a:pPr marL="177800" indent="-177800">
              <a:spcAft>
                <a:spcPts val="800"/>
              </a:spcAft>
              <a:buSzPct val="100000"/>
              <a:buChar char="•"/>
            </a:pPr>
            <a:r>
              <a:rPr lang="en-US" sz="1200" dirty="0">
                <a:solidFill>
                  <a:srgbClr val="000000"/>
                </a:solidFill>
                <a:latin typeface="Calibri" pitchFamily="34" charset="0"/>
                <a:ea typeface="Calibri" pitchFamily="34" charset="-122"/>
                <a:cs typeface="Calibri" pitchFamily="34" charset="-120"/>
              </a:rPr>
              <a:t>[11] S. Deandrea, E. Lucenteforte, F. Bravi, R. Foschi, C. La Vecchia, and E. Negri, “Risk factors for falls in community-dwelling older people: A systematic review and meta-analysis,” Epidemiology, vol. 21, no. 5, pp. 658–668, 2010.</a:t>
            </a:r>
            <a:endParaRPr lang="en-US" sz="1600" dirty="0"/>
          </a:p>
          <a:p>
            <a:pPr marL="177800" indent="-177800">
              <a:spcAft>
                <a:spcPts val="800"/>
              </a:spcAft>
              <a:buSzPct val="100000"/>
              <a:buChar char="•"/>
            </a:pPr>
            <a:r>
              <a:rPr lang="en-US" sz="1200" dirty="0">
                <a:solidFill>
                  <a:srgbClr val="000000"/>
                </a:solidFill>
                <a:latin typeface="Calibri" pitchFamily="34" charset="0"/>
                <a:ea typeface="Calibri" pitchFamily="34" charset="-122"/>
                <a:cs typeface="Calibri" pitchFamily="34" charset="-120"/>
              </a:rPr>
              <a:t>[12] J. M. Hausdorff, D. A. Rios, and H. K. Edelberg, “Gait variability and fall risk in community-living older adults: A 1-year prospective study,” Arch. Phys. Med. Rehabil., vol. 82, no. 8, pp. 1050–1056, 2001.</a:t>
            </a:r>
            <a:endParaRPr lang="en-US" sz="1600" dirty="0"/>
          </a:p>
          <a:p>
            <a:pPr marL="177800" indent="-177800">
              <a:spcAft>
                <a:spcPts val="800"/>
              </a:spcAft>
              <a:buSzPct val="100000"/>
              <a:buChar char="•"/>
            </a:pPr>
            <a:r>
              <a:rPr lang="en-US" sz="1200" dirty="0">
                <a:solidFill>
                  <a:srgbClr val="000000"/>
                </a:solidFill>
                <a:latin typeface="Calibri" pitchFamily="34" charset="0"/>
                <a:ea typeface="Calibri" pitchFamily="34" charset="-122"/>
                <a:cs typeface="Calibri" pitchFamily="34" charset="-120"/>
              </a:rPr>
              <a:t>[13] [TO VERIFY: authors], “Orthostatic hypotension and falls: A systematic review and meta-analysis,” J. Am. Med. Dir. Assoc., [TO VERIFY: vol., pp., year].</a:t>
            </a:r>
            <a:endParaRPr lang="en-US" sz="1600" dirty="0"/>
          </a:p>
          <a:p>
            <a:pPr marL="177800" indent="-177800">
              <a:spcAft>
                <a:spcPts val="800"/>
              </a:spcAft>
              <a:buSzPct val="100000"/>
              <a:buChar char="•"/>
            </a:pPr>
            <a:r>
              <a:rPr lang="en-US" sz="1200" dirty="0">
                <a:solidFill>
                  <a:srgbClr val="000000"/>
                </a:solidFill>
                <a:latin typeface="Calibri" pitchFamily="34" charset="0"/>
                <a:ea typeface="Calibri" pitchFamily="34" charset="-122"/>
                <a:cs typeface="Calibri" pitchFamily="34" charset="-120"/>
              </a:rPr>
              <a:t>[14] [TO VERIFY: authors], “[TO VERIFY: title] (sleep and falls, SWAN cohort),” Innov. Aging, 2024.</a:t>
            </a:r>
            <a:endParaRPr lang="en-US" sz="1600" dirty="0"/>
          </a:p>
          <a:p>
            <a:pPr marL="177800" indent="-177800">
              <a:spcAft>
                <a:spcPts val="800"/>
              </a:spcAft>
              <a:buSzPct val="100000"/>
              <a:buChar char="•"/>
            </a:pPr>
            <a:r>
              <a:rPr lang="en-US" sz="1200" dirty="0">
                <a:solidFill>
                  <a:srgbClr val="000000"/>
                </a:solidFill>
                <a:latin typeface="Calibri" pitchFamily="34" charset="0"/>
                <a:ea typeface="Calibri" pitchFamily="34" charset="-122"/>
                <a:cs typeface="Calibri" pitchFamily="34" charset="-120"/>
              </a:rPr>
              <a:t>[15] T. Mishra et al., “Pre-symptomatic detection of COVID-19 from smartwatch data,” Nat. Biomed. Eng., vol. 4, no. 12, pp. 1208–1220, 2020.</a:t>
            </a:r>
            <a:endParaRPr lang="en-US" sz="16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(2/2)</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300" dirty="0">
                <a:solidFill>
                  <a:srgbClr val="000000"/>
                </a:solidFill>
                <a:latin typeface="Calibri" pitchFamily="34" charset="0"/>
                <a:ea typeface="Calibri" pitchFamily="34" charset="-122"/>
                <a:cs typeface="Calibri" pitchFamily="34" charset="-120"/>
              </a:rPr>
              <a:t>[16] [TO VERIFY: authors], “[TO VERIFY: title] (Oura ring measurements across the menstrual cycle),” Int. J. Women's Health, 2022.</a:t>
            </a:r>
            <a:endParaRPr lang="en-US" sz="1600" dirty="0"/>
          </a:p>
          <a:p>
            <a:pPr marL="177800" indent="-177800">
              <a:spcAft>
                <a:spcPts val="800"/>
              </a:spcAft>
              <a:buSzPct val="100000"/>
              <a:buChar char="•"/>
            </a:pPr>
            <a:r>
              <a:rPr lang="en-US" sz="1300" dirty="0">
                <a:solidFill>
                  <a:srgbClr val="000000"/>
                </a:solidFill>
                <a:latin typeface="Calibri" pitchFamily="34" charset="0"/>
                <a:ea typeface="Calibri" pitchFamily="34" charset="-122"/>
                <a:cs typeface="Calibri" pitchFamily="34" charset="-120"/>
              </a:rPr>
              <a:t>[17] [TO VERIFY: authors], “[TO VERIFY: title] (wearable HRV across the menstrual cycle: living systematic review),” Sports Med., 2026.</a:t>
            </a:r>
            <a:endParaRPr lang="en-US" sz="1600" dirty="0"/>
          </a:p>
          <a:p>
            <a:pPr marL="177800" indent="-177800">
              <a:spcAft>
                <a:spcPts val="800"/>
              </a:spcAft>
              <a:buSzPct val="100000"/>
              <a:buChar char="•"/>
            </a:pPr>
            <a:r>
              <a:rPr lang="en-US" sz="1300" dirty="0">
                <a:solidFill>
                  <a:srgbClr val="000000"/>
                </a:solidFill>
                <a:latin typeface="Calibri" pitchFamily="34" charset="0"/>
                <a:ea typeface="Calibri" pitchFamily="34" charset="-122"/>
                <a:cs typeface="Calibri" pitchFamily="34" charset="-120"/>
              </a:rPr>
              <a:t>[18] [TO VERIFY: initials] Askhatova et al., “[TO VERIFY: title] (temporal CNN fall-risk classification on LTMM),” MethodsX, 2026.</a:t>
            </a:r>
            <a:endParaRPr lang="en-US" sz="1600" dirty="0"/>
          </a:p>
          <a:p>
            <a:pPr marL="177800" indent="-177800">
              <a:spcAft>
                <a:spcPts val="800"/>
              </a:spcAft>
              <a:buSzPct val="100000"/>
              <a:buChar char="•"/>
            </a:pPr>
            <a:r>
              <a:rPr lang="en-US" sz="1300" dirty="0">
                <a:solidFill>
                  <a:srgbClr val="000000"/>
                </a:solidFill>
                <a:latin typeface="Calibri" pitchFamily="34" charset="0"/>
                <a:ea typeface="Calibri" pitchFamily="34" charset="-122"/>
                <a:cs typeface="Calibri" pitchFamily="34" charset="-120"/>
              </a:rPr>
              <a:t>[19] A. Weiss, M. Brozgol, M. Dorfman, T. Herman, S. Shema, N. Giladi, and J. M. Hausdorff, “Does the evaluation of gait quality during daily life provide insight into fall risk? A novel approach using 3-day accelerometer recordings,” Neurorehabil. Neural Repair, vol. 27, no. 8, pp. 742–752, 2013.</a:t>
            </a:r>
            <a:endParaRPr lang="en-US" sz="1600" dirty="0"/>
          </a:p>
          <a:p>
            <a:pPr marL="177800" indent="-177800">
              <a:spcAft>
                <a:spcPts val="800"/>
              </a:spcAft>
              <a:buSzPct val="100000"/>
              <a:buChar char="•"/>
            </a:pPr>
            <a:r>
              <a:rPr lang="en-US" sz="1300" dirty="0">
                <a:solidFill>
                  <a:srgbClr val="000000"/>
                </a:solidFill>
                <a:latin typeface="Calibri" pitchFamily="34" charset="0"/>
                <a:ea typeface="Calibri" pitchFamily="34" charset="-122"/>
                <a:cs typeface="Calibri" pitchFamily="34" charset="-120"/>
              </a:rPr>
              <a:t>[20] J. McCamley, M. Donati, E. Grimpampi, and C. Mazzà, “An enhanced estimate of initial contact and final contact instants of time using lower trunk inertial sensor data,” Gait Posture, vol. 36, no. 2, pp. 316–318, 2012.</a:t>
            </a:r>
            <a:endParaRPr lang="en-US" sz="1600" dirty="0"/>
          </a:p>
          <a:p>
            <a:pPr marL="177800" indent="-177800">
              <a:spcAft>
                <a:spcPts val="800"/>
              </a:spcAft>
              <a:buSzPct val="100000"/>
              <a:buChar char="•"/>
            </a:pPr>
            <a:r>
              <a:rPr lang="en-US" sz="1300" dirty="0">
                <a:solidFill>
                  <a:srgbClr val="000000"/>
                </a:solidFill>
                <a:latin typeface="Calibri" pitchFamily="34" charset="0"/>
                <a:ea typeface="Calibri" pitchFamily="34" charset="-122"/>
                <a:cs typeface="Calibri" pitchFamily="34" charset="-120"/>
              </a:rPr>
              <a:t>[21] R. Moe-Nilssen and J. L. Helbostad, “Estimation of gait cycle characteristics by trunk accelerometry,” J. Biomech., vol. 37, no. 1, pp. 121–126, 2004. [TO VERIFY]</a:t>
            </a:r>
            <a:endParaRPr lang="en-US" sz="1600" dirty="0"/>
          </a:p>
          <a:p>
            <a:pPr marL="177800" indent="-177800">
              <a:spcAft>
                <a:spcPts val="800"/>
              </a:spcAft>
              <a:buSzPct val="100000"/>
              <a:buChar char="•"/>
            </a:pPr>
            <a:r>
              <a:rPr lang="en-US" sz="1300" dirty="0">
                <a:solidFill>
                  <a:srgbClr val="000000"/>
                </a:solidFill>
                <a:latin typeface="Calibri" pitchFamily="34" charset="0"/>
                <a:ea typeface="Calibri" pitchFamily="34" charset="-122"/>
                <a:cs typeface="Calibri" pitchFamily="34" charset="-120"/>
              </a:rPr>
              <a:t>[22] D. Drover, J. Howcroft, J. Kofman, and E. D. Lemaire, “Faller classification in older adults using wearable sensors based on turn and straight-walking accelerometer-based features,” Sensors, vol. 17, no. 6, Art. no. 1321, 2017.</a:t>
            </a:r>
            <a:endParaRPr lang="en-US" sz="1600" dirty="0"/>
          </a:p>
          <a:p>
            <a:pPr marL="177800" indent="-177800">
              <a:spcAft>
                <a:spcPts val="800"/>
              </a:spcAft>
              <a:buSzPct val="100000"/>
              <a:buChar char="•"/>
            </a:pPr>
            <a:r>
              <a:rPr lang="en-US" sz="1300" dirty="0">
                <a:solidFill>
                  <a:srgbClr val="000000"/>
                </a:solidFill>
                <a:latin typeface="Calibri" pitchFamily="34" charset="0"/>
                <a:ea typeface="Calibri" pitchFamily="34" charset="-122"/>
                <a:cs typeface="Calibri" pitchFamily="34" charset="-120"/>
              </a:rPr>
              <a:t>[23] PhysioNet, “Long Term Movement Monitoring Database (LTMM), v1.0.0,” [TO VERIFY: IEEE entry and DOI].</a:t>
            </a:r>
            <a:endParaRPr lang="en-US" sz="16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 1"/>
          <p:cNvSpPr txBox="1"/>
          <p:nvPr/>
        </p:nvSpPr>
        <p:spPr>
          <a:xfrm>
            <a:off x="548640" y="2743200"/>
            <a:ext cx="11091672" cy="914400"/>
          </a:xfrm>
          <a:prstGeom prst="rect">
            <a:avLst/>
          </a:prstGeom>
          <a:noFill/>
          <a:ln/>
        </p:spPr>
        <p:txBody>
          <a:bodyPr wrap="square" lIns="0" tIns="0" rIns="0" bIns="0" rtlCol="0" anchor="ctr"/>
          <a:lstStyle/>
          <a:p>
            <a:pPr marL="0" indent="0" algn="ctr">
              <a:buNone/>
            </a:pPr>
            <a:r>
              <a:rPr lang="en-US" sz="4000" b="1" dirty="0">
                <a:solidFill>
                  <a:srgbClr val="1D2F82"/>
                </a:solidFill>
                <a:latin typeface="Calibri" pitchFamily="34" charset="0"/>
                <a:ea typeface="Calibri" pitchFamily="34" charset="-122"/>
                <a:cs typeface="Calibri" pitchFamily="34" charset="-120"/>
              </a:rPr>
              <a:t>Thank You</a:t>
            </a:r>
            <a:endParaRPr lang="en-US" sz="4000" dirty="0"/>
          </a:p>
        </p:txBody>
      </p:sp>
      <p:sp>
        <p:nvSpPr>
          <p:cNvPr id="5" name="Text 2"/>
          <p:cNvSpPr txBox="1"/>
          <p:nvPr/>
        </p:nvSpPr>
        <p:spPr>
          <a:xfrm>
            <a:off x="548640" y="3749040"/>
            <a:ext cx="11091672" cy="365760"/>
          </a:xfrm>
          <a:prstGeom prst="rect">
            <a:avLst/>
          </a:prstGeom>
          <a:noFill/>
          <a:ln/>
        </p:spPr>
        <p:txBody>
          <a:bodyPr wrap="square" lIns="0" tIns="0" rIns="0" bIns="0" rtlCol="0" anchor="ctr"/>
          <a:lstStyle/>
          <a:p>
            <a:pPr marL="0" indent="0" algn="ctr">
              <a:buNone/>
            </a:pPr>
            <a:r>
              <a:rPr lang="en-US" sz="1400" dirty="0">
                <a:solidFill>
                  <a:srgbClr val="000000"/>
                </a:solidFill>
                <a:latin typeface="Calibri" pitchFamily="34" charset="0"/>
                <a:ea typeface="Calibri" pitchFamily="34" charset="-122"/>
                <a:cs typeface="Calibri" pitchFamily="34" charset="-120"/>
              </a:rPr>
              <a:t>Project-I (2026)  ·  SENSE  ·  VIT Chennai</a:t>
            </a:r>
            <a:endParaRPr lang="en-US" sz="14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Backup: Full Architecture (1/2)</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architecture_full_1.png"/>
          <p:cNvPicPr>
            <a:picLocks noChangeAspect="1"/>
          </p:cNvPicPr>
          <p:nvPr/>
        </p:nvPicPr>
        <p:blipFill>
          <a:blip r:embed="rId3"/>
          <a:stretch>
            <a:fillRect/>
          </a:stretch>
        </p:blipFill>
        <p:spPr>
          <a:xfrm>
            <a:off x="365760" y="1235301"/>
            <a:ext cx="11457432" cy="4936036"/>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Backup: Full Architecture (2/2)</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architecture_full_2.png"/>
          <p:cNvPicPr>
            <a:picLocks noChangeAspect="1"/>
          </p:cNvPicPr>
          <p:nvPr/>
        </p:nvPicPr>
        <p:blipFill>
          <a:blip r:embed="rId3"/>
          <a:stretch>
            <a:fillRect/>
          </a:stretch>
        </p:blipFill>
        <p:spPr>
          <a:xfrm>
            <a:off x="365760" y="1719110"/>
            <a:ext cx="11457432" cy="396841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TotalTime>
  <Words>344</Words>
  <Application>Microsoft Macintosh PowerPoint</Application>
  <PresentationFormat>Widescreen</PresentationFormat>
  <Paragraphs>73</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2026-09-23T05:52:39Z</dcterms:modified>
</cp:coreProperties>
</file>