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2012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Title slide. Names, register numbers, guide and the guide's signature are left as the template's placeholders: fill them in, get the signature, scan this slide and keep the scan as slide 1.</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Open with the hook. An elderly woman falls at home. Her ring detects the fall. A minute later she types “I'm fine, just a bit shaken”. A text-only assistant reads that and tells her she is fine. Ours does not: the ring's fall event overrides the calm text and the reply is an emergency message. I will prove that live at the end (demo, step 3), and it is scenario 7 in our evaluation, where only Version D caught it.</a:t>
            </a:r>
          </a:p>
          <a:p/>
          <a:p>
            <a:r>
              <a:t>The problem has three parts: existing fall systems react after the fall; chatbots are not trustworthy with health numbers; and safety checks only read text. Our objectives follow directly: an explainable deterministic fall-risk engine, an agent where sensors, engine and LLM check each other, and real-data validation against the clinical Timed Up and Go test.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All four modules promised at Review-I are delivered, each with offline unit tests: the trend-deviation signal-processing layer, the self-verification loop, personal correlation detection and router confidence scoring. Following the feedback, we chose fall prediction as the safety-critical application, and, as our guide asked, we went deeper into signal processing: a gait pipeline validated on real IMU data (PhysioNet LTMM), shown in the results.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ten papers from Review-I stay in the table; they covered health agents, RAG and grounding. Kriti will paste them here and in the references.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Rows 11–14 give the evidence for our layer weights (fall history, gait, orthostatic hypotension, sleep). Row 15 is the personal-baseline idea. Rows 16–17 motivate cycle-aware baselines.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Rows 18–22 are the gait and LTMM papers. Askhatova 2026 is the fair comparison for our LTMM results because it also uses subject-wise cross-validation. McCamley and Moe-Nilssen are the signal-processing methods we implemented. Drover 2017 motivated our turn features; on our data they did not help (Experiment 2, model M1).</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Four gaps come out of the literature, and each maps to one of our contributions on the next slide.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Four core contributions, each with proof from our own results files.</a:t>
            </a:r>
          </a:p>
          <a:p>
            <a:r>
              <a:t>1. Tri-modal safety fusion: in 11 scenarios with 3 emergencies, D caught 3/3, including scenario 7, where the text was calm and only the ring's fall event showed the emergency; the LLM classifier did not flag it. C caught 2/3; A and B caught 0/3 and 0/3. No version raised a false alarm (D 0/8).</a:t>
            </a:r>
          </a:p>
          <a:p>
            <a:r>
              <a:t>2. Compute-then-explain: strict grounding is the share of numbers in a reply that appear in the user's real data, on personal queries. D 0.979, C 0.955, A 0.723, B 0.606. Self-verification fired 1/11 times and fixed that reply from 0.80 to 1.00.</a:t>
            </a:r>
          </a:p>
          <a:p>
            <a:r>
              <a:t>3. Weights: λ is proportional to the natural log of published odds/risk ratios, so fall history counts most. No training data needed; the ratios come from different studies, which we state as a limitation.</a:t>
            </a:r>
          </a:p>
          <a:p>
            <a:r>
              <a:t>4. Cycle-aware baselines: for the healthy luteal user, mean physiology-layer risk on 9 normal luteal days drops from 18.1 to 10.2; for the strained user, days flagged at ≥ 30 drop from 2 to 0 while her genuine acute strain days stay high. Honest caveat: for the healthy user one day stays flagged (1 → 1).</a:t>
            </a:r>
          </a:p>
          <a:p>
            <a:r>
              <a:t>Safety-asymmetric routing is an extra safeguard. It did not fire in the evaluation because the router was confident (0.90–0.99), so we only claim it through unit tests.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request goes through six stages. (1) Router, LLM safety classifier and the ring fall-event lookup run in parallel. (2) Tri-modal fusion decides if this is an emergency; if so we reply immediately. (3) Otherwise we fetch only the data streams the router selected. (4) The deterministic engine computes the score, tier, confidence and contributors. (5) The LLM explains those numbers as facts, rationale and action. (6) Every number in the reply is checked against the patient data; if one is missing we regenerate once. Three things to remember: the engine computes, the LLM only explains, and the ring can override the chat. The full function-level diagram is the backup slide at the end and in docs/ARCHITECTURE.md.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Every feature (HRV, resting HR, SpO2, skin temperature, sleep duration and score, stress, steps) is compared with the user's own robust baseline: median and MAD over the previous 28 days. The z-score goes through a dead zone so normal day-to-day noise adds nothing, and saturates at z = 3. Layers average their features' strain; the four layers are combined with evidence weights λ, renormalised by how much data each layer actually has (coverage), so a missing sensor is not silently read as 'no risk'. Because the score is a weighted sum, each feature's contribution in points adds up exactly to the score, which is what the LLM is allowed to explain. Weights: fall history 0.402, motion 0.290, physiology 0.214, recovery 0.093. Exact formulas: docs/METHODS.md §1.</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guide asked for deeper signal processing. Version 1 of the gait detector gave implausibly high variability, so version 2 removes turns using the gyroscope, detects initial contacts with the McCamley method, rejects implausible intervals and uses stride-time CV as in Hausdorff 2001. Every threshold is in docs/METHODS.md §2. On the right is the core of the safety fusion: an uncancelled ring fall event in the last 30 minutes is enough on its own to make the reply an emergency, whatever the text says.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5 synthetic demo users, 35 days each, generated with fixed seeds (engine run dated 2026-09-27). The tiers come out as designed: the recent-faller is HIGH, the luteal user with poor recovery MODERATE, the others LOW. The stale user is flagged and her coverage drops to 70%. The chart is the cycle-aware ablation: grey is without correction, colour with. Normal luteal changes are suppressed, but the strained user's real acute strain stays high. This is synthetic data, so it demonstrates correct behaviour, not clinical accuracy; that is what the next slide is for.</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This is real data: 73 older adults from PhysioNet LTMM, one-minute lab walks with a lower-back IMU, labelled by fall history (35 fallers). Our untrained v2 gait index reaches AUC 0.686 (95% CI 0.561–0.808), with no training on labels. The clinical gold standard, Timed Up and Go, gets 0.683 on the 69 subjects who have it, and our index on those same subjects gets 0.684. So: comparable to the clinical test, not better; the confidence intervals overlap. Berg is 0.618. The small chart is the synthetic ground-truth bench: v1 overestimated variability by 6.79 points, v2 by 0.52 (correlation with truth 0.61 → 0.98). On the real walks, median variability fell from 8.36% (implausible) to 3.00%. Caveats: labels are retrospective, and the sensor is on the lower back, not a ring.</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We tried hard to beat our own number, with the protocol fixed in advance. Experiment 2: seven models on the lab walks. The untrained v2 index M0 scores 0.686. Adding turn features (M1) gives 0.634. The best trained model is logistic regression on the five v2 features, M2, 0.721 ± 0.019. The pre-registered primary, M4, gets 0.651; its permutation test is p = 0.030 on a single split. Random forests get 0.593 and 0.586: more complexity did worse on 73 subjects. Experiment 3: daily-life walking from the 3-day recordings. The primary combined index D1 gets 0.636 (permutation p = 0.030), below the lab index on the same 64 subjects (0.655). Daily-life alone: D0 0.587, D2 0.519. We report all of it. That is why the headline number is trustworthy: it survived our own attempts to replace it. Cadence is the one marker that holds in both settings. Askhatova 2026 reports 0.749 with subject-wise CV, using 3-day data, demographics and a deep network; our index is untrained and fully explainable.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Same 11 scenarios for all four versions, one run each, so the rates are small counts: 3 emergencies and 8 non-emergencies. D caught 3/3, C 2/3, A and B 0/3. C missed the biometric-only case because it only reads text. No version raised a false alarm, including on “I fell asleep on the couch”. Strict grounding: D 0.979, C 0.955, A 0.723, B 0.606; A and B invent numbers because they have no data. Only D told the stale-data user that the data was old (1/1). D fetched 0.88 data streams per non-emergency reply on average versus all 12 for C. Latency: D averaged 19.61 s and C 15.98 s in this batch run, which includes rate-limit retries and D's extra router, safety and verification calls, so we do not claim D is faster. Safety widening did not fire because router confidence was 0.90–0.99 on every query; it is covered by unit tests only.</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Before the review: run `py seed_fall_demo.py` in the morning (data is generated relative to today), then `py seed_fall_demo.py --fall-now` about 5 minutes before the demo, because the ring signal only looks back 30 minutes. Keep a backup video of these four steps. Step 1: Meera asks her fall risk; point to the score, the contributors, the cycle-adjustment line and that every number is grounded. Step 2: “I fell asleep on the couch” must not raise an alarm. Step 3: switch to Lakshmi and type “I'm fine, just a bit shaken”: the reply is an emergency because of the ring fall event, even though the text is calm and the LLM classifier alone did not flag it. This closes the story from the first slide. Step 4: Ravi's data is 4 days old; the reply says the estimate is less reliable and asks him to sync. Scores on the day can differ from the table on slide 12 because the demo data is generated relative to the review date.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Challenges we solved, left: rate limits, hallucinated numbers, keyword false alarms, an implausible gait detector, and the lack of a combined dataset, which we handled by validating each layer separately. Right: the limitations we state before anyone asks. The labels are retrospective; the sensor is a lower-back IMU, not the ring; the sample is small; the engine and agent are tested on a synthetic cohort; the evidence weights come from different studies; and there is no authentication yet.</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remaining 25%, scheduled up to Review-III on 28 October 2026. First, move the gait algorithm from the lower-back dataset to the phone or ring IMU, so the Motion layer uses real gait rather than step counts. Then validate the cycle layer on mcPHASES and learn the layer weights from data to compare with our evidence-derived weights. Then Flutter integration including the fall-risk card, and authentication. The last week is the final report. Dates are our proposal.</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IEEE format. [1]–[10] are the Review-I papers, to be pasted. Entries marked [TO VERIFY] must be checked against the paper before submission; the volume and page details of the others should also be checked once.</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Every reference is cited in the literature table (rows 11–22) or the methods; [23] is the dataset used in the real-data validation.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Thank the panel; open for questions (see docs/review2/QA_PREP.md).</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Backup: the complete function-level pipeline from docs/ARCHITECTURE.md, rendered left to right and split in two. Part 1: request entry, parallel stage 1, safety fusion, selective fetch. </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Backup part 2: fall-risk engine, grounded generation, strict grounding and self-verification, reply and card.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33.xml"/></Relationships>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a:t>
            </a:r>
            <a:endParaRPr lang="en-US" sz="1000" dirty="0"/>
          </a:p>
        </p:txBody>
      </p:sp>
      <p:pic>
        <p:nvPicPr>
          <p:cNvPr id="3" name="Image 0" descr="logo.png"/>
          <p:cNvPicPr>
            <a:picLocks noChangeAspect="1"/>
          </p:cNvPicPr>
          <p:nvPr/>
        </p:nvPicPr>
        <p:blipFill>
          <a:blip r:embed="rId2"/>
          <a:stretch>
            <a:fillRect/>
          </a:stretch>
        </p:blipFill>
        <p:spPr>
          <a:xfrm>
            <a:off x="548640" y="365760"/>
            <a:ext cx="2011680" cy="760828"/>
          </a:xfrm>
          <a:prstGeom prst="rect">
            <a:avLst/>
          </a:prstGeom>
        </p:spPr>
      </p:pic>
      <p:sp>
        <p:nvSpPr>
          <p:cNvPr id="4" name="Text 1"/>
          <p:cNvSpPr txBox="1"/>
          <p:nvPr/>
        </p:nvSpPr>
        <p:spPr>
          <a:xfrm>
            <a:off x="5486400" y="411480"/>
            <a:ext cx="6217920" cy="320040"/>
          </a:xfrm>
          <a:prstGeom prst="rect">
            <a:avLst/>
          </a:prstGeom>
          <a:noFill/>
          <a:ln/>
        </p:spPr>
        <p:txBody>
          <a:bodyPr wrap="square" lIns="0" tIns="0" rIns="0" bIns="0" rtlCol="0" anchor="ctr"/>
          <a:lstStyle/>
          <a:p>
            <a:pPr marL="0" indent="0" algn="r">
              <a:buNone/>
            </a:pPr>
            <a:r>
              <a:rPr lang="en-US" sz="1400" b="1" dirty="0">
                <a:solidFill>
                  <a:srgbClr val="1D2F82"/>
                </a:solidFill>
                <a:latin typeface="Calibri" pitchFamily="34" charset="0"/>
                <a:ea typeface="Calibri" pitchFamily="34" charset="-122"/>
                <a:cs typeface="Calibri" pitchFamily="34" charset="-120"/>
              </a:rPr>
              <a:t>School of Electronics Engineering (SENSE)</a:t>
            </a:r>
            <a:endParaRPr lang="en-US" sz="1400" dirty="0"/>
          </a:p>
        </p:txBody>
      </p:sp>
      <p:sp>
        <p:nvSpPr>
          <p:cNvPr id="5" name="Text 2"/>
          <p:cNvSpPr txBox="1"/>
          <p:nvPr/>
        </p:nvSpPr>
        <p:spPr>
          <a:xfrm>
            <a:off x="5486400" y="749808"/>
            <a:ext cx="6217920" cy="274320"/>
          </a:xfrm>
          <a:prstGeom prst="rect">
            <a:avLst/>
          </a:prstGeom>
          <a:noFill/>
          <a:ln/>
        </p:spPr>
        <p:txBody>
          <a:bodyPr wrap="square" lIns="0" tIns="0" rIns="0" bIns="0" rtlCol="0" anchor="ctr"/>
          <a:lstStyle/>
          <a:p>
            <a:pPr marL="0" indent="0" algn="r">
              <a:buNone/>
            </a:pPr>
            <a:r>
              <a:rPr lang="en-US" sz="1200" dirty="0">
                <a:solidFill>
                  <a:srgbClr val="000000"/>
                </a:solidFill>
                <a:latin typeface="Calibri" pitchFamily="34" charset="0"/>
                <a:ea typeface="Calibri" pitchFamily="34" charset="-122"/>
                <a:cs typeface="Calibri" pitchFamily="34" charset="-120"/>
              </a:rPr>
              <a:t>Project-I (2026)</a:t>
            </a:r>
            <a:endParaRPr lang="en-US" sz="1200" dirty="0"/>
          </a:p>
        </p:txBody>
      </p:sp>
      <p:sp>
        <p:nvSpPr>
          <p:cNvPr id="6" name="Text 3"/>
          <p:cNvSpPr txBox="1"/>
          <p:nvPr/>
        </p:nvSpPr>
        <p:spPr>
          <a:xfrm>
            <a:off x="548640" y="1737360"/>
            <a:ext cx="11091672" cy="914400"/>
          </a:xfrm>
          <a:prstGeom prst="rect">
            <a:avLst/>
          </a:prstGeom>
          <a:noFill/>
          <a:ln/>
        </p:spPr>
        <p:txBody>
          <a:bodyPr wrap="square" lIns="0" tIns="0" rIns="0" bIns="0" rtlCol="0" anchor="ctr"/>
          <a:lstStyle/>
          <a:p>
            <a:pPr marL="0" indent="0" algn="ctr">
              <a:buNone/>
            </a:pPr>
            <a:r>
              <a:rPr lang="en-US" sz="3200" b="1" dirty="0">
                <a:solidFill>
                  <a:srgbClr val="1D2F82"/>
                </a:solidFill>
                <a:latin typeface="Calibri" pitchFamily="34" charset="0"/>
                <a:ea typeface="Calibri" pitchFamily="34" charset="-122"/>
                <a:cs typeface="Calibri" pitchFamily="34" charset="-120"/>
              </a:rPr>
              <a:t>MedXAI: Explainable, Safety-Aware Fall-Risk Prediction from Smart-Ring Data</a:t>
            </a:r>
            <a:endParaRPr lang="en-US" sz="3200" dirty="0"/>
          </a:p>
        </p:txBody>
      </p:sp>
      <p:sp>
        <p:nvSpPr>
          <p:cNvPr id="7" name="Text 4"/>
          <p:cNvSpPr txBox="1"/>
          <p:nvPr/>
        </p:nvSpPr>
        <p:spPr>
          <a:xfrm>
            <a:off x="822960" y="306324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Student Name(s):</a:t>
            </a:r>
            <a:endParaRPr lang="en-US" sz="1400" dirty="0"/>
          </a:p>
        </p:txBody>
      </p:sp>
      <p:sp>
        <p:nvSpPr>
          <p:cNvPr id="8" name="Text 5"/>
          <p:cNvSpPr txBox="1"/>
          <p:nvPr/>
        </p:nvSpPr>
        <p:spPr>
          <a:xfrm>
            <a:off x="3474720" y="306324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Name — Reg. No.</a:t>
            </a:r>
            <a:endParaRPr lang="en-US" sz="1400" dirty="0"/>
          </a:p>
        </p:txBody>
      </p:sp>
      <p:sp>
        <p:nvSpPr>
          <p:cNvPr id="9" name="Shape 6"/>
          <p:cNvSpPr/>
          <p:nvPr/>
        </p:nvSpPr>
        <p:spPr>
          <a:xfrm>
            <a:off x="3474720" y="3465576"/>
            <a:ext cx="4023360" cy="0"/>
          </a:xfrm>
          <a:prstGeom prst="line">
            <a:avLst/>
          </a:prstGeom>
          <a:noFill/>
          <a:ln w="12700">
            <a:solidFill>
              <a:srgbClr val="BFBFBF"/>
            </a:solidFill>
            <a:prstDash val="solid"/>
          </a:ln>
        </p:spPr>
        <p:txBody>
          <a:bodyPr/>
          <a:lstStyle/>
          <a:p>
            <a:endParaRPr lang="en-US"/>
          </a:p>
        </p:txBody>
      </p:sp>
      <p:sp>
        <p:nvSpPr>
          <p:cNvPr id="10" name="Text 7"/>
          <p:cNvSpPr txBox="1"/>
          <p:nvPr/>
        </p:nvSpPr>
        <p:spPr>
          <a:xfrm>
            <a:off x="822960" y="365760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Guide:</a:t>
            </a:r>
            <a:endParaRPr lang="en-US" sz="1400" dirty="0"/>
          </a:p>
        </p:txBody>
      </p:sp>
      <p:sp>
        <p:nvSpPr>
          <p:cNvPr id="11" name="Text 8"/>
          <p:cNvSpPr txBox="1"/>
          <p:nvPr/>
        </p:nvSpPr>
        <p:spPr>
          <a:xfrm>
            <a:off x="3474720" y="365760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Dr. Guide Name, School</a:t>
            </a:r>
            <a:endParaRPr lang="en-US" sz="1400" dirty="0"/>
          </a:p>
        </p:txBody>
      </p:sp>
      <p:sp>
        <p:nvSpPr>
          <p:cNvPr id="12" name="Shape 9"/>
          <p:cNvSpPr/>
          <p:nvPr/>
        </p:nvSpPr>
        <p:spPr>
          <a:xfrm>
            <a:off x="3474720" y="4059936"/>
            <a:ext cx="4023360" cy="0"/>
          </a:xfrm>
          <a:prstGeom prst="line">
            <a:avLst/>
          </a:prstGeom>
          <a:noFill/>
          <a:ln w="12700">
            <a:solidFill>
              <a:srgbClr val="BFBFBF"/>
            </a:solidFill>
            <a:prstDash val="solid"/>
          </a:ln>
        </p:spPr>
        <p:txBody>
          <a:bodyPr/>
          <a:lstStyle/>
          <a:p>
            <a:endParaRPr lang="en-US"/>
          </a:p>
        </p:txBody>
      </p:sp>
      <p:sp>
        <p:nvSpPr>
          <p:cNvPr id="13" name="Text 10"/>
          <p:cNvSpPr txBox="1"/>
          <p:nvPr/>
        </p:nvSpPr>
        <p:spPr>
          <a:xfrm>
            <a:off x="822960" y="425196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Programme / School:</a:t>
            </a:r>
            <a:endParaRPr lang="en-US" sz="1400" dirty="0"/>
          </a:p>
        </p:txBody>
      </p:sp>
      <p:sp>
        <p:nvSpPr>
          <p:cNvPr id="14" name="Text 11"/>
          <p:cNvSpPr txBox="1"/>
          <p:nvPr/>
        </p:nvSpPr>
        <p:spPr>
          <a:xfrm>
            <a:off x="3474720" y="425196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B.Tech — SENSE, VIT Chennai</a:t>
            </a:r>
            <a:endParaRPr lang="en-US" sz="1400" dirty="0"/>
          </a:p>
        </p:txBody>
      </p:sp>
      <p:sp>
        <p:nvSpPr>
          <p:cNvPr id="15" name="Shape 12"/>
          <p:cNvSpPr/>
          <p:nvPr/>
        </p:nvSpPr>
        <p:spPr>
          <a:xfrm>
            <a:off x="3474720" y="4654296"/>
            <a:ext cx="4023360" cy="0"/>
          </a:xfrm>
          <a:prstGeom prst="line">
            <a:avLst/>
          </a:prstGeom>
          <a:noFill/>
          <a:ln w="12700">
            <a:solidFill>
              <a:srgbClr val="BFBFBF"/>
            </a:solidFill>
            <a:prstDash val="solid"/>
          </a:ln>
        </p:spPr>
        <p:txBody>
          <a:bodyPr/>
          <a:lstStyle/>
          <a:p>
            <a:endParaRPr lang="en-US"/>
          </a:p>
        </p:txBody>
      </p:sp>
      <p:sp>
        <p:nvSpPr>
          <p:cNvPr id="16" name="Text 13"/>
          <p:cNvSpPr txBox="1"/>
          <p:nvPr/>
        </p:nvSpPr>
        <p:spPr>
          <a:xfrm>
            <a:off x="822960" y="484632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Review &amp; Date:</a:t>
            </a:r>
            <a:endParaRPr lang="en-US" sz="1400" dirty="0"/>
          </a:p>
        </p:txBody>
      </p:sp>
      <p:sp>
        <p:nvSpPr>
          <p:cNvPr id="17" name="Text 14"/>
          <p:cNvSpPr txBox="1"/>
          <p:nvPr/>
        </p:nvSpPr>
        <p:spPr>
          <a:xfrm>
            <a:off x="3474720" y="484632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Review-II  ·  30.09.2026 (Wednesday)</a:t>
            </a:r>
            <a:endParaRPr lang="en-US" sz="1400" dirty="0"/>
          </a:p>
        </p:txBody>
      </p:sp>
      <p:sp>
        <p:nvSpPr>
          <p:cNvPr id="18" name="Shape 15"/>
          <p:cNvSpPr/>
          <p:nvPr/>
        </p:nvSpPr>
        <p:spPr>
          <a:xfrm>
            <a:off x="3474720" y="5248656"/>
            <a:ext cx="4023360" cy="0"/>
          </a:xfrm>
          <a:prstGeom prst="line">
            <a:avLst/>
          </a:prstGeom>
          <a:noFill/>
          <a:ln w="12700">
            <a:solidFill>
              <a:srgbClr val="BFBFBF"/>
            </a:solidFill>
            <a:prstDash val="solid"/>
          </a:ln>
        </p:spPr>
        <p:txBody>
          <a:bodyPr/>
          <a:lstStyle/>
          <a:p>
            <a:endParaRPr lang="en-US"/>
          </a:p>
        </p:txBody>
      </p:sp>
      <p:sp>
        <p:nvSpPr>
          <p:cNvPr id="19" name="Shape 16"/>
          <p:cNvSpPr/>
          <p:nvPr/>
        </p:nvSpPr>
        <p:spPr>
          <a:xfrm>
            <a:off x="8046720" y="3063240"/>
            <a:ext cx="3657600" cy="2194560"/>
          </a:xfrm>
          <a:prstGeom prst="rect">
            <a:avLst/>
          </a:prstGeom>
          <a:solidFill>
            <a:srgbClr val="FFFFFF"/>
          </a:solidFill>
          <a:ln w="15875">
            <a:solidFill>
              <a:srgbClr val="1D2F82"/>
            </a:solidFill>
            <a:prstDash val="solid"/>
          </a:ln>
        </p:spPr>
        <p:txBody>
          <a:bodyPr/>
          <a:lstStyle/>
          <a:p>
            <a:endParaRPr lang="en-US"/>
          </a:p>
        </p:txBody>
      </p:sp>
      <p:sp>
        <p:nvSpPr>
          <p:cNvPr id="20" name="Text 17"/>
          <p:cNvSpPr txBox="1"/>
          <p:nvPr/>
        </p:nvSpPr>
        <p:spPr>
          <a:xfrm>
            <a:off x="8229600" y="3246120"/>
            <a:ext cx="3291840" cy="365760"/>
          </a:xfrm>
          <a:prstGeom prst="rect">
            <a:avLst/>
          </a:prstGeom>
          <a:noFill/>
          <a:ln/>
        </p:spPr>
        <p:txBody>
          <a:bodyPr wrap="square" lIns="0" tIns="0" rIns="0" bIns="0" rtlCol="0" anchor="ctr"/>
          <a:lstStyle/>
          <a:p>
            <a:pPr marL="0" indent="0">
              <a:buNone/>
            </a:pPr>
            <a:r>
              <a:rPr lang="en-US" sz="1400" b="1" dirty="0">
                <a:solidFill>
                  <a:srgbClr val="1D2F82"/>
                </a:solidFill>
                <a:latin typeface="Calibri" pitchFamily="34" charset="0"/>
                <a:ea typeface="Calibri" pitchFamily="34" charset="-122"/>
                <a:cs typeface="Calibri" pitchFamily="34" charset="-120"/>
              </a:rPr>
              <a:t>Guide's Signature with Date</a:t>
            </a:r>
            <a:endParaRPr lang="en-US" sz="1400" dirty="0"/>
          </a:p>
        </p:txBody>
      </p:sp>
      <p:sp>
        <p:nvSpPr>
          <p:cNvPr id="21" name="Text 18"/>
          <p:cNvSpPr txBox="1"/>
          <p:nvPr/>
        </p:nvSpPr>
        <p:spPr>
          <a:xfrm>
            <a:off x="8229600" y="388620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Signature: _____________________</a:t>
            </a:r>
            <a:endParaRPr lang="en-US" sz="1300" dirty="0"/>
          </a:p>
        </p:txBody>
      </p:sp>
      <p:sp>
        <p:nvSpPr>
          <p:cNvPr id="22" name="Text 19"/>
          <p:cNvSpPr txBox="1"/>
          <p:nvPr/>
        </p:nvSpPr>
        <p:spPr>
          <a:xfrm>
            <a:off x="8229600" y="443484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Date: _________________________</a:t>
            </a:r>
            <a:endParaRPr lang="en-US" sz="1300" dirty="0"/>
          </a:p>
        </p:txBody>
      </p:sp>
      <p:sp>
        <p:nvSpPr>
          <p:cNvPr id="23" name="Text 20"/>
          <p:cNvSpPr txBox="1"/>
          <p:nvPr/>
        </p:nvSpPr>
        <p:spPr>
          <a:xfrm>
            <a:off x="822960" y="5760720"/>
            <a:ext cx="10607040" cy="548640"/>
          </a:xfrm>
          <a:prstGeom prst="rect">
            <a:avLst/>
          </a:prstGeom>
          <a:noFill/>
          <a:ln/>
        </p:spPr>
        <p:txBody>
          <a:bodyPr wrap="square" lIns="0" tIns="0" rIns="0" bIns="0" rtlCol="0" anchor="ctr"/>
          <a:lstStyle/>
          <a:p>
            <a:pPr marL="0" indent="0">
              <a:buNone/>
            </a:pPr>
            <a:r>
              <a:rPr lang="en-US" sz="1200" i="1" dirty="0">
                <a:solidFill>
                  <a:srgbClr val="000000"/>
                </a:solidFill>
                <a:latin typeface="Calibri" pitchFamily="34" charset="0"/>
                <a:ea typeface="Calibri" pitchFamily="34" charset="-122"/>
                <a:cs typeface="Calibri" pitchFamily="34" charset="-120"/>
              </a:rPr>
              <a:t>Approval is mandatory before every review. After signing, scan this slide and keep the scanned copy as Slide 1 of the presentation.</a:t>
            </a:r>
            <a:endParaRPr lang="en-US" sz="1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Introduction &amp; Problem Recap</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0" indent="0">
              <a:spcAft>
                <a:spcPts val="800"/>
              </a:spcAft>
              <a:buNone/>
            </a:pPr>
            <a:r>
              <a:rPr lang="en-US" sz="1600" dirty="0" b="1">
                <a:solidFill>
                  <a:srgbClr val="1D2F82"/>
                </a:solidFill>
                <a:latin typeface="Calibri" pitchFamily="34" charset="0"/>
                <a:ea typeface="Calibri" pitchFamily="34" charset="-122"/>
                <a:cs typeface="Calibri" pitchFamily="34" charset="-120"/>
              </a:rPr>
              <a:t>Problem recap</a:t>
            </a:r>
            <a:endParaRPr lang="en-US" sz="1600" dirty="0"/>
          </a:p>
          <a:p>
            <a:pPr marL="177800" indent="-177800">
              <a:spcAft>
                <a:spcPts val="800"/>
              </a:spcAft>
              <a:buSzPct val="100000"/>
              <a:buChar char="•"/>
            </a:pPr>
            <a:r>
              <a:rPr lang="en-US" sz="1600" dirty="0">
                <a:solidFill>
                  <a:srgbClr val="000000"/>
                </a:solidFill>
                <a:latin typeface="Calibri" pitchFamily="34" charset="0"/>
                <a:ea typeface="Calibri" pitchFamily="34" charset="-122"/>
                <a:cs typeface="Calibri" pitchFamily="34" charset="-120"/>
              </a:rPr>
              <a:t>Fall systems detect a fall after it happens; they do not predict or explain risk</a:t>
            </a:r>
            <a:endParaRPr lang="en-US" sz="1600" dirty="0"/>
          </a:p>
          <a:p>
            <a:pPr marL="177800" indent="-177800">
              <a:spcAft>
                <a:spcPts val="800"/>
              </a:spcAft>
              <a:buSzPct val="100000"/>
              <a:buChar char="•"/>
            </a:pPr>
            <a:r>
              <a:rPr lang="en-US" sz="1600" dirty="0">
                <a:solidFill>
                  <a:srgbClr val="000000"/>
                </a:solidFill>
                <a:latin typeface="Calibri" pitchFamily="34" charset="0"/>
                <a:ea typeface="Calibri" pitchFamily="34" charset="-122"/>
                <a:cs typeface="Calibri" pitchFamily="34" charset="-120"/>
              </a:rPr>
              <a:t>Health chatbots state health numbers they cannot be trusted with</a:t>
            </a:r>
            <a:endParaRPr lang="en-US" sz="1600" dirty="0"/>
          </a:p>
          <a:p>
            <a:pPr marL="177800" indent="-177800">
              <a:spcAft>
                <a:spcPts val="800"/>
              </a:spcAft>
              <a:buSzPct val="100000"/>
              <a:buChar char="•"/>
            </a:pPr>
            <a:r>
              <a:rPr lang="en-US" sz="1600" dirty="0">
                <a:solidFill>
                  <a:srgbClr val="000000"/>
                </a:solidFill>
                <a:latin typeface="Calibri" pitchFamily="34" charset="0"/>
                <a:ea typeface="Calibri" pitchFamily="34" charset="-122"/>
                <a:cs typeface="Calibri" pitchFamily="34" charset="-120"/>
              </a:rPr>
              <a:t>Text-only safety checks miss a fallen user who types “I'm fine”</a:t>
            </a:r>
            <a:endParaRPr lang="en-US" sz="1600" dirty="0"/>
          </a:p>
          <a:p>
            <a:pPr marL="0" indent="0">
              <a:spcAft>
                <a:spcPts val="800"/>
              </a:spcAft>
              <a:buNone/>
            </a:pPr>
            <a:r>
              <a:rPr lang="en-US" sz="1600" dirty="0" b="1">
                <a:solidFill>
                  <a:srgbClr val="1D2F82"/>
                </a:solidFill>
                <a:latin typeface="Calibri" pitchFamily="34" charset="0"/>
                <a:ea typeface="Calibri" pitchFamily="34" charset="-122"/>
                <a:cs typeface="Calibri" pitchFamily="34" charset="-120"/>
              </a:rPr>
              <a:t>Objectives</a:t>
            </a:r>
            <a:endParaRPr lang="en-US" sz="1600" dirty="0"/>
          </a:p>
          <a:p>
            <a:pPr marL="177800" indent="-177800">
              <a:spcAft>
                <a:spcPts val="800"/>
              </a:spcAft>
              <a:buSzPct val="100000"/>
              <a:buChar char="•"/>
            </a:pPr>
            <a:r>
              <a:rPr lang="en-US" sz="1600" dirty="0">
                <a:solidFill>
                  <a:srgbClr val="000000"/>
                </a:solidFill>
                <a:latin typeface="Calibri" pitchFamily="34" charset="0"/>
                <a:ea typeface="Calibri" pitchFamily="34" charset="-122"/>
                <a:cs typeface="Calibri" pitchFamily="34" charset="-120"/>
              </a:rPr>
              <a:t>Predict daily fall risk from ring data with a deterministic, explainable engine</a:t>
            </a:r>
            <a:endParaRPr lang="en-US" sz="1600" dirty="0"/>
          </a:p>
          <a:p>
            <a:pPr marL="177800" indent="-177800">
              <a:spcAft>
                <a:spcPts val="800"/>
              </a:spcAft>
              <a:buSzPct val="100000"/>
              <a:buChar char="•"/>
            </a:pPr>
            <a:r>
              <a:rPr lang="en-US" sz="1600" dirty="0">
                <a:solidFill>
                  <a:srgbClr val="000000"/>
                </a:solidFill>
                <a:latin typeface="Calibri" pitchFamily="34" charset="0"/>
                <a:ea typeface="Calibri" pitchFamily="34" charset="-122"/>
                <a:cs typeface="Calibri" pitchFamily="34" charset="-120"/>
              </a:rPr>
              <a:t>Let sensors, engine and LLM check each other before anything reaches the user</a:t>
            </a:r>
            <a:endParaRPr lang="en-US" sz="1600" dirty="0"/>
          </a:p>
          <a:p>
            <a:pPr marL="177800" indent="-177800">
              <a:spcAft>
                <a:spcPts val="800"/>
              </a:spcAft>
              <a:buSzPct val="100000"/>
              <a:buChar char="•"/>
            </a:pPr>
            <a:r>
              <a:rPr lang="en-US" sz="1600" dirty="0">
                <a:solidFill>
                  <a:srgbClr val="000000"/>
                </a:solidFill>
                <a:latin typeface="Calibri" pitchFamily="34" charset="0"/>
                <a:ea typeface="Calibri" pitchFamily="34" charset="-122"/>
                <a:cs typeface="Calibri" pitchFamily="34" charset="-120"/>
              </a:rPr>
              <a:t>Validate on real data against a clinical gold standard (Timed Up and Go)</a:t>
            </a:r>
            <a:endParaRPr lang="en-US" sz="16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Refinements after Review-I Feedback</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640080" y="1325880"/>
          <a:ext cx="10881360" cy="3264408"/>
        </p:xfrm>
        <a:graphic>
          <a:graphicData uri="http://schemas.openxmlformats.org/drawingml/2006/table">
            <a:tbl>
              <a:tblPr/>
              <a:tblGrid>
                <a:gridCol w="3291840"/>
                <a:gridCol w="4754880"/>
                <a:gridCol w="2834640"/>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Promised / requested at Review-I</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Delivered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475488">
                <a:tc>
                  <a:txBody>
                    <a:bodyPr/>
                    <a:lstStyle/>
                    <a:p>
                      <a:pPr marL="0" indent="0">
                        <a:buNone/>
                      </a:pPr>
                      <a:r>
                        <a:rPr lang="en-US" sz="1300" dirty="0" b="1">
                          <a:solidFill>
                            <a:srgbClr val="000000"/>
                          </a:solidFill>
                          <a:latin typeface="Calibri" pitchFamily="34" charset="0"/>
                          <a:ea typeface="Calibri" pitchFamily="34" charset="-122"/>
                          <a:cs typeface="Calibri" pitchFamily="34" charset="-120"/>
                        </a:rPr>
                        <a:t>Trend-deviation signal-processing layer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Personal median/MAD baselines, z-score deviations, dead-zone strain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agent/fall_risk.py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marL="0" indent="0">
                        <a:buNone/>
                      </a:pPr>
                      <a:r>
                        <a:rPr lang="en-US" sz="1300" dirty="0" b="1">
                          <a:solidFill>
                            <a:srgbClr val="000000"/>
                          </a:solidFill>
                          <a:latin typeface="Calibri" pitchFamily="34" charset="0"/>
                          <a:ea typeface="Calibri" pitchFamily="34" charset="-122"/>
                          <a:cs typeface="Calibri" pitchFamily="34" charset="-120"/>
                        </a:rPr>
                        <a:t>Self-verification loop</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Strict number check vs patient data + one corrective regeneration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agent/graph.py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marL="0" indent="0">
                        <a:buNone/>
                      </a:pPr>
                      <a:r>
                        <a:rPr lang="en-US" sz="1300" dirty="0" b="1">
                          <a:solidFill>
                            <a:srgbClr val="000000"/>
                          </a:solidFill>
                          <a:latin typeface="Calibri" pitchFamily="34" charset="0"/>
                          <a:ea typeface="Calibri" pitchFamily="34" charset="-122"/>
                          <a:cs typeface="Calibri" pitchFamily="34" charset="-120"/>
                        </a:rPr>
                        <a:t>Personal correlation detection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Pearson r on the user's own history (n ≥ 14, |r| ≥ 0.4, p &lt; 0.05)</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agent/correlations.py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marL="0" indent="0">
                        <a:buNone/>
                      </a:pPr>
                      <a:r>
                        <a:rPr lang="en-US" sz="1300" dirty="0" b="1">
                          <a:solidFill>
                            <a:srgbClr val="000000"/>
                          </a:solidFill>
                          <a:latin typeface="Calibri" pitchFamily="34" charset="0"/>
                          <a:ea typeface="Calibri" pitchFamily="34" charset="-122"/>
                          <a:cs typeface="Calibri" pitchFamily="34" charset="-120"/>
                        </a:rPr>
                        <a:t>Router confidence scoring</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Confidence + safety-asymmetric widening of the data fetch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agent/router.py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marL="0" indent="0">
                        <a:buNone/>
                      </a:pPr>
                      <a:r>
                        <a:rPr lang="en-US" sz="1300" dirty="0" b="1">
                          <a:solidFill>
                            <a:srgbClr val="000000"/>
                          </a:solidFill>
                          <a:latin typeface="Calibri" pitchFamily="34" charset="0"/>
                          <a:ea typeface="Calibri" pitchFamily="34" charset="-122"/>
                          <a:cs typeface="Calibri" pitchFamily="34" charset="-120"/>
                        </a:rPr>
                        <a:t>Safety-critical application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Fall prediction: fall-risk score, fall events, fall card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agent/fall_risk.py, graph.py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marL="0" indent="0">
                        <a:buNone/>
                      </a:pPr>
                      <a:r>
                        <a:rPr lang="en-US" sz="1300" dirty="0" b="1">
                          <a:solidFill>
                            <a:srgbClr val="000000"/>
                          </a:solidFill>
                          <a:latin typeface="Calibri" pitchFamily="34" charset="0"/>
                          <a:ea typeface="Calibri" pitchFamily="34" charset="-122"/>
                          <a:cs typeface="Calibri" pitchFamily="34" charset="-120"/>
                        </a:rPr>
                        <a:t>Deeper signal processing (guide)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Gait pipeline v2: turn removal, McCamley contacts, stride CV</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agent/gait_features.py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Literature Review (1/3): Review-I Papers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069080"/>
        </p:xfrm>
        <a:graphic>
          <a:graphicData uri="http://schemas.openxmlformats.org/drawingml/2006/table">
            <a:tbl>
              <a:tblPr/>
              <a:tblGrid>
                <a:gridCol w="457200"/>
                <a:gridCol w="2377440"/>
                <a:gridCol w="2743200"/>
                <a:gridCol w="2194560"/>
                <a:gridCol w="3319272"/>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Author(s) &amp; Year</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Title / Source</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Method / Approach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Findings &amp; Research Gap</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{{Review-I paper 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{{Review-I paper 2}}</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{{Review-I paper 3}}</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{{Review-I paper 4}}</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{{Review-I paper 5}}</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{{Review-I paper 6}}</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{{Review-I paper 7}}</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{{Review-I paper 8}}</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{{Review-I paper 9}}</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{{Review-I paper 10}}</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Box 5"/>
          <p:cNvSpPr txBox="1"/>
          <p:nvPr/>
        </p:nvSpPr>
        <p:spPr>
          <a:xfrm>
            <a:off x="548640" y="6053328"/>
            <a:ext cx="11064240" cy="411480"/>
          </a:xfrm>
          <a:prstGeom prst="rect">
            <a:avLst/>
          </a:prstGeom>
          <a:noFill/>
        </p:spPr>
        <p:txBody>
          <a:bodyPr wrap="square" lIns="45720" rIns="45720">
            <a:spAutoFit/>
          </a:bodyPr>
          <a:lstStyle/>
          <a:p>
            <a:pPr>
              <a:spcAft>
                <a:spcPts val="600"/>
              </a:spcAft>
            </a:pPr>
            <a:r>
              <a:rPr sz="1100" b="0">
                <a:solidFill>
                  <a:srgbClr val="595959"/>
                </a:solidFill>
                <a:latin typeface="Calibri"/>
              </a:rPr>
              <a:t>Papers 1–10: the ten Review-I papers (to be pasted). Papers 11–22: added for Review-II.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Literature Review (2/3): Fall Risk &amp; Gait</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581144"/>
        </p:xfrm>
        <a:graphic>
          <a:graphicData uri="http://schemas.openxmlformats.org/drawingml/2006/table">
            <a:tbl>
              <a:tblPr/>
              <a:tblGrid>
                <a:gridCol w="457200"/>
                <a:gridCol w="1737360"/>
                <a:gridCol w="3017520"/>
                <a:gridCol w="2286000"/>
                <a:gridCol w="3593592"/>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Author(s) &amp; Year</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Title / Source</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Method / Approach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Findings &amp; Research Gap</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Deandrea et al., 2010</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Risk factors for falls in community-dwelling older people / Epidemiology</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Systematic review + meta-analysis</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History of falls OR 2.8, gait problems OR 2.1. Gap: population-level risk, no personal daily trend</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Hausdorff et al., 2001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Gait variability and fall risk… 1-year prospective study / Arch Phys Med Rehabil</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Prospective cohort, stride-time variability</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Stride-time variability predicts future falls. Gap: lab measurement, not continuous wearable</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 VERIFY: authors], JAMDA</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Orthostatic hypotension and falls meta-analysis / J Am Med Dir Assoc</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Meta-analysis</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Orthostatic hypotension OR 1.73 for falls. Gap: one-off BP test, not daily physiology</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SWAN [TO VERIFY: authors], 2024</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Sleep and falls (SWAN cohort) / Innovation in Aging</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Cohort study</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Poor sleep RR 1.27 for falls. Gap: questionnaire sleep, not ring-measured</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Mishra, Snyder et al., 2020</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Pre-symptomatic detection of COVID-19 from smartwatch data / Nat Biomed Eng</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Personal-baseline deviation detection</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Deviations from a personal baseline flag illness early. Gap: not falls, no explanation</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 VERIFY: authors], 2022</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Oura ring across the menstrual cycle / Int J Women's Health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Ring skin temperature, HR, HRV by cycle phase</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Luteal phase shifts temperature and resting HR. Gap: not used in risk baselines</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Box 5"/>
          <p:cNvSpPr txBox="1"/>
          <p:nvPr/>
        </p:nvSpPr>
        <p:spPr>
          <a:xfrm>
            <a:off x="548640" y="6053328"/>
            <a:ext cx="11064240" cy="411480"/>
          </a:xfrm>
          <a:prstGeom prst="rect">
            <a:avLst/>
          </a:prstGeom>
          <a:noFill/>
        </p:spPr>
        <p:txBody>
          <a:bodyPr wrap="square" lIns="45720" rIns="45720">
            <a:spAutoFit/>
          </a:bodyPr>
          <a:lstStyle/>
          <a:p>
            <a:pPr>
              <a:spcAft>
                <a:spcPts val="600"/>
              </a:spcAft>
            </a:pPr>
            <a:r>
              <a:rPr sz="1100" b="0">
                <a:solidFill>
                  <a:srgbClr val="595959"/>
                </a:solidFill>
                <a:latin typeface="Calibri"/>
              </a:rPr>
              <a:t>[TO VERIFY] = bibliographic detail still to be checked against the paper.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Literature Review (3/3): Fall Risk &amp; Gait</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581144"/>
        </p:xfrm>
        <a:graphic>
          <a:graphicData uri="http://schemas.openxmlformats.org/drawingml/2006/table">
            <a:tbl>
              <a:tblPr/>
              <a:tblGrid>
                <a:gridCol w="457200"/>
                <a:gridCol w="1737360"/>
                <a:gridCol w="3017520"/>
                <a:gridCol w="2286000"/>
                <a:gridCol w="3593592"/>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Author(s) &amp; Year</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Title / Source</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Method / Approach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Findings &amp; Research Gap</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 VERIFY], 2026</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Wearable HRV across the menstrual cycle: living systematic review / Sports Med</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Living systematic review</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HRV varies with cycle phase. Gap: wearable scores ignore phase</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Askhatova et al., 2026</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 VERIFY: title] / MethodsX</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Temporal CNN on LTMM, subject-wise CV</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AUC 0.749 using 1-min + 3-day data + demographics. Gap: black box, no explanation</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Weiss et al., 2013</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Gait quality during daily life and fall risk (3-day recordings) / Neurorehabil Neural Repair</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LTMM study: 3-day lower-back accelerometer</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Daily-life gait differs in fallers. Gap: no personal agent or explanation</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McCamley et al., 2012</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Initial and final contact from lower-trunk inertial data / Gait &amp; Posture</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Gaussian-derivative initial-contact detection</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Accurate step timing from one trunk IMU. Gap: detection only</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Moe-Nilssen &amp; Helbostad, 2004 [TO VERIFY]</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Gait cycle characteristics by trunk accelerometry / J Biomech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Autocorrelation step/stride regularity</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Regularity from one sensor. Gap: method only, no risk model</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Drover et al., 2017</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Faller classification from turn and straight-walking features / Sensors</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Turn vs straight-walking accelerometer features</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Turn features help classify fallers. Gap: not replicated on our data</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Box 5"/>
          <p:cNvSpPr txBox="1"/>
          <p:nvPr/>
        </p:nvSpPr>
        <p:spPr>
          <a:xfrm>
            <a:off x="548640" y="6053328"/>
            <a:ext cx="11064240" cy="411480"/>
          </a:xfrm>
          <a:prstGeom prst="rect">
            <a:avLst/>
          </a:prstGeom>
          <a:noFill/>
        </p:spPr>
        <p:txBody>
          <a:bodyPr wrap="square" lIns="45720" rIns="45720">
            <a:spAutoFit/>
          </a:bodyPr>
          <a:lstStyle/>
          <a:p>
            <a:pPr>
              <a:spcAft>
                <a:spcPts val="600"/>
              </a:spcAft>
            </a:pPr>
            <a:r>
              <a:rPr sz="1100" b="0">
                <a:solidFill>
                  <a:srgbClr val="595959"/>
                </a:solidFill>
                <a:latin typeface="Calibri"/>
              </a:rPr>
              <a:t>[TO VERIFY] = bibliographic detail still to be checked against the paper.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Research Gaps Identified</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640080" y="1463040"/>
          <a:ext cx="10881359" cy="3703320"/>
        </p:xfrm>
        <a:graphic>
          <a:graphicData uri="http://schemas.openxmlformats.org/drawingml/2006/table">
            <a:tbl>
              <a:tblPr/>
              <a:tblGrid>
                <a:gridCol w="5120640"/>
                <a:gridCol w="5760720"/>
              </a:tblGrid>
              <a:tr h="41148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Gap in existing work</a:t>
                      </a:r>
                      <a:endParaRPr lang="en-US" sz="15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How MedXAI addresses it</a:t>
                      </a:r>
                      <a:endParaRPr lang="en-US" sz="15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822960">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Fall systems detect falls but do not predict or explain risk</a:t>
                      </a:r>
                      <a:endParaRPr lang="en-US" sz="15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Daily fall-risk score with per-feature contributions</a:t>
                      </a:r>
                      <a:endParaRPr lang="en-US" sz="15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822960">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Best fall-risk models are black boxes</a:t>
                      </a:r>
                      <a:endParaRPr lang="en-US" sz="15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Deterministic engine; the LLM only explains its numbers</a:t>
                      </a:r>
                      <a:endParaRPr lang="en-US" sz="15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822960">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Health agents check safety from text only</a:t>
                      </a:r>
                      <a:endParaRPr lang="en-US" sz="15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Tri-modal fusion: keyword + LLM + ring fall event</a:t>
                      </a:r>
                      <a:endParaRPr lang="en-US" sz="15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822960">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No cycle-aware baselines in wearable risk scores</a:t>
                      </a:r>
                      <a:endParaRPr lang="en-US" sz="15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Phase-matched baselines for HRV, resting HR, temperature</a:t>
                      </a:r>
                      <a:endParaRPr lang="en-US" sz="15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Novelty: Existing → Ours → Proof</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3886200"/>
        </p:xfrm>
        <a:graphic>
          <a:graphicData uri="http://schemas.openxmlformats.org/drawingml/2006/table">
            <a:tbl>
              <a:tblPr/>
              <a:tblGrid>
                <a:gridCol w="2148840"/>
                <a:gridCol w="2377440"/>
                <a:gridCol w="3017520"/>
                <a:gridCol w="3547872"/>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Contribution</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Existing</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Ours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Proof (our data)</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868680">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1. Tri-modal safety fusion</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Keyword or LLM reads the text only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Keyword + LLM + ring fall event (last 30 min), fused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Emergencies caught: D 3/3 (incl. biometric-only), C 2/3, A 0/3, B 0/3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868680">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2. Compute-then-explain, closed-loop grounding</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LLM generates health numbers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Engine computes; LLM explains; every number checked, one corrective retry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Strict grounding D 0.979 vs A 0.723, B 0.606; self-verification 0.80 → 1.00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868680">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3. Evidence-derived weights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Hand-tuned or learned black-box weights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λ ∝ ln(published risk ratio), renormalised by coverage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FH 0.402 (OR 2.8), MO 0.290 (OR 2.1), P 0.214 (OR 1.73), RC 0.093 (RR 1.27)</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868680">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4. Cycle-aware baselines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One baseline for every day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Phase-matched baseline for HRV, resting HR, temperature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Healthy luteal user: physiology risk 18.1 → 10.2; strained user: flagged days 2 → 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Box 5"/>
          <p:cNvSpPr txBox="1"/>
          <p:nvPr/>
        </p:nvSpPr>
        <p:spPr>
          <a:xfrm>
            <a:off x="548640" y="6053328"/>
            <a:ext cx="11064240" cy="411480"/>
          </a:xfrm>
          <a:prstGeom prst="rect">
            <a:avLst/>
          </a:prstGeom>
          <a:noFill/>
        </p:spPr>
        <p:txBody>
          <a:bodyPr wrap="square" lIns="45720" rIns="45720">
            <a:spAutoFit/>
          </a:bodyPr>
          <a:lstStyle/>
          <a:p>
            <a:pPr>
              <a:spcAft>
                <a:spcPts val="600"/>
              </a:spcAft>
            </a:pPr>
            <a:r>
              <a:rPr sz="1100" b="0">
                <a:solidFill>
                  <a:srgbClr val="595959"/>
                </a:solidFill>
                <a:latin typeface="Calibri"/>
              </a:rPr>
              <a:t>Additional safeguard (unit-tested): safety-asymmetric routing. It did not fire in the evaluation (router confidence 0.90–0.99).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System Design &amp; Architecture</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architecture_slide.png"/>
          <p:cNvPicPr>
            <a:picLocks noChangeAspect="1"/>
          </p:cNvPicPr>
          <p:nvPr/>
        </p:nvPicPr>
        <p:blipFill>
          <a:blip r:embed="rId3"/>
          <a:stretch>
            <a:fillRect/>
          </a:stretch>
        </p:blipFill>
        <p:spPr>
          <a:xfrm>
            <a:off x="457200" y="1118379"/>
            <a:ext cx="11274552" cy="3889720"/>
          </a:xfrm>
          <a:prstGeom prst="rect">
            <a:avLst/>
          </a:prstGeom>
        </p:spPr>
      </p:pic>
      <p:sp>
        <p:nvSpPr>
          <p:cNvPr id="6" name="TextBox 5"/>
          <p:cNvSpPr txBox="1"/>
          <p:nvPr/>
        </p:nvSpPr>
        <p:spPr>
          <a:xfrm>
            <a:off x="548640" y="5212080"/>
            <a:ext cx="3514344" cy="1005840"/>
          </a:xfrm>
          <a:prstGeom prst="rect">
            <a:avLst/>
          </a:prstGeom>
          <a:solidFill>
            <a:srgbClr val="EEF1FA"/>
          </a:solidFill>
        </p:spPr>
        <p:txBody>
          <a:bodyPr wrap="square" lIns="109728" rIns="109728" tIns="109728" bIns="109728">
            <a:spAutoFit/>
          </a:bodyPr>
          <a:lstStyle/>
          <a:p>
            <a:pPr>
              <a:spcAft>
                <a:spcPts val="600"/>
              </a:spcAft>
            </a:pPr>
            <a:r>
              <a:rPr sz="1400" b="1">
                <a:solidFill>
                  <a:srgbClr val="1D2F82"/>
                </a:solidFill>
                <a:latin typeface="Calibri"/>
              </a:rPr>
              <a:t>Engine computes</a:t>
            </a:r>
          </a:p>
          <a:p>
            <a:pPr>
              <a:spcAft>
                <a:spcPts val="600"/>
              </a:spcAft>
            </a:pPr>
            <a:r>
              <a:rPr sz="1400" b="0">
                <a:solidFill>
                  <a:srgbClr val="000000"/>
                </a:solidFill>
                <a:latin typeface="Calibri"/>
              </a:rPr>
              <a:t>Scores come from agent/fall_risk.py, never from the LLM</a:t>
            </a:r>
          </a:p>
        </p:txBody>
      </p:sp>
      <p:sp>
        <p:nvSpPr>
          <p:cNvPr id="7" name="TextBox 6"/>
          <p:cNvSpPr txBox="1"/>
          <p:nvPr/>
        </p:nvSpPr>
        <p:spPr>
          <a:xfrm>
            <a:off x="4337304" y="5212080"/>
            <a:ext cx="3514344" cy="1005840"/>
          </a:xfrm>
          <a:prstGeom prst="rect">
            <a:avLst/>
          </a:prstGeom>
          <a:solidFill>
            <a:srgbClr val="EEF1FA"/>
          </a:solidFill>
        </p:spPr>
        <p:txBody>
          <a:bodyPr wrap="square" lIns="109728" rIns="109728" tIns="109728" bIns="109728">
            <a:spAutoFit/>
          </a:bodyPr>
          <a:lstStyle/>
          <a:p>
            <a:pPr>
              <a:spcAft>
                <a:spcPts val="600"/>
              </a:spcAft>
            </a:pPr>
            <a:r>
              <a:rPr sz="1400" b="1">
                <a:solidFill>
                  <a:srgbClr val="1D2F82"/>
                </a:solidFill>
                <a:latin typeface="Calibri"/>
              </a:rPr>
              <a:t>LLM only explains</a:t>
            </a:r>
          </a:p>
          <a:p>
            <a:pPr>
              <a:spcAft>
                <a:spcPts val="600"/>
              </a:spcAft>
            </a:pPr>
            <a:r>
              <a:rPr sz="1400" b="0">
                <a:solidFill>
                  <a:srgbClr val="000000"/>
                </a:solidFill>
                <a:latin typeface="Calibri"/>
              </a:rPr>
              <a:t>Every number is checked against patient data before sending</a:t>
            </a:r>
          </a:p>
        </p:txBody>
      </p:sp>
      <p:sp>
        <p:nvSpPr>
          <p:cNvPr id="8" name="TextBox 7"/>
          <p:cNvSpPr txBox="1"/>
          <p:nvPr/>
        </p:nvSpPr>
        <p:spPr>
          <a:xfrm>
            <a:off x="8125968" y="5212080"/>
            <a:ext cx="3514344" cy="1005840"/>
          </a:xfrm>
          <a:prstGeom prst="rect">
            <a:avLst/>
          </a:prstGeom>
          <a:solidFill>
            <a:srgbClr val="EEF1FA"/>
          </a:solidFill>
        </p:spPr>
        <p:txBody>
          <a:bodyPr wrap="square" lIns="109728" rIns="109728" tIns="109728" bIns="109728">
            <a:spAutoFit/>
          </a:bodyPr>
          <a:lstStyle/>
          <a:p>
            <a:pPr>
              <a:spcAft>
                <a:spcPts val="600"/>
              </a:spcAft>
            </a:pPr>
            <a:r>
              <a:rPr sz="1400" b="1">
                <a:solidFill>
                  <a:srgbClr val="1D2F82"/>
                </a:solidFill>
                <a:latin typeface="Calibri"/>
              </a:rPr>
              <a:t>Ring can override chat</a:t>
            </a:r>
          </a:p>
          <a:p>
            <a:pPr>
              <a:spcAft>
                <a:spcPts val="600"/>
              </a:spcAft>
            </a:pPr>
            <a:r>
              <a:rPr sz="1400" b="0">
                <a:solidFill>
                  <a:srgbClr val="000000"/>
                </a:solidFill>
                <a:latin typeface="Calibri"/>
              </a:rPr>
              <a:t>An uncancelled ring fall event (last 30 min) forces an emergency reply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Implementation (1/2): Fall-Risk Engine</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 2"/>
          <p:cNvSpPr txBox="1"/>
          <p:nvPr/>
        </p:nvSpPr>
        <p:spPr>
          <a:xfrm>
            <a:off x="640080" y="1234440"/>
            <a:ext cx="5669280" cy="4937760"/>
          </a:xfrm>
          <a:prstGeom prst="rect">
            <a:avLst/>
          </a:prstGeom>
          <a:noFill/>
          <a:ln/>
        </p:spPr>
        <p:txBody>
          <a:bodyPr wrap="square" lIns="0" tIns="0" rIns="0" bIns="0" rtlCol="0" anchor="t"/>
          <a:lstStyle/>
          <a:p>
            <a:pPr marL="0" indent="0">
              <a:spcAft>
                <a:spcPts val="800"/>
              </a:spcAft>
              <a:buNone/>
            </a:pPr>
            <a:r>
              <a:rPr lang="en-US" sz="1400" dirty="0" b="1">
                <a:solidFill>
                  <a:srgbClr val="1D2F82"/>
                </a:solidFill>
                <a:latin typeface="Calibri" pitchFamily="34" charset="0"/>
                <a:ea typeface="Calibri" pitchFamily="34" charset="-122"/>
                <a:cs typeface="Calibri" pitchFamily="34" charset="-120"/>
              </a:rPr>
              <a:t>Personal baseline and deviation</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Median / MAD of the previous 28 days (≥ 7 days)</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z = (today − median) / (1.4826·MAD), in the risk direction</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Strain 0–100: dead zone below z = 0.5, full at z = 3</a:t>
            </a:r>
            <a:endParaRPr lang="en-US" sz="1600" dirty="0"/>
          </a:p>
          <a:p>
            <a:pPr marL="0" indent="0">
              <a:spcAft>
                <a:spcPts val="800"/>
              </a:spcAft>
              <a:buNone/>
            </a:pPr>
            <a:r>
              <a:rPr lang="en-US" sz="1400" dirty="0" b="1">
                <a:solidFill>
                  <a:srgbClr val="1D2F82"/>
                </a:solidFill>
                <a:latin typeface="Calibri" pitchFamily="34" charset="0"/>
                <a:ea typeface="Calibri" pitchFamily="34" charset="-122"/>
                <a:cs typeface="Calibri" pitchFamily="34" charset="-120"/>
              </a:rPr>
              <a:t>Four layers → score</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Layer risk = weighted mean strain of its features</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FRS = Σ λ′_L · risk_L,  λ′_L = λ_L·c_L / Σ λ_j·c_j  (c = data coverage)</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Tier: LOW &lt; 40 ≤ MODERATE &lt; 70 ≤ HIGH; contributions add up to FRS</a:t>
            </a:r>
            <a:endParaRPr lang="en-US" sz="1600" dirty="0"/>
          </a:p>
        </p:txBody>
      </p:sp>
      <p:graphicFrame>
        <p:nvGraphicFramePr>
          <p:cNvPr id="6" name="Table 6"/>
          <p:cNvGraphicFramePr>
            <a:graphicFrameLocks noGrp="1"/>
          </p:cNvGraphicFramePr>
          <p:nvPr>
            <p:extLst>
              <p:ext uri="{D42A27DB-BD31-4B8C-83A1-F6EECF244321}">
                <p14:modId xmlns:p14="http://schemas.microsoft.com/office/powerpoint/2010/main" val="1579011935"/>
              </p:ext>
            </p:extLst>
          </p:nvPr>
        </p:nvGraphicFramePr>
        <p:xfrm>
          <a:off x="6583680" y="1325880"/>
          <a:ext cx="5029200" cy="2240280"/>
        </p:xfrm>
        <a:graphic>
          <a:graphicData uri="http://schemas.openxmlformats.org/drawingml/2006/table">
            <a:tbl>
              <a:tblPr/>
              <a:tblGrid>
                <a:gridCol w="1737360"/>
                <a:gridCol w="1188720"/>
                <a:gridCol w="1005840"/>
                <a:gridCol w="1097280"/>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Ratio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λ</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457200">
                <a:tc>
                  <a:txBody>
                    <a:bodyPr/>
                    <a:lstStyle/>
                    <a:p>
                      <a:pPr marL="0" indent="0">
                        <a:buNone/>
                      </a:pPr>
                      <a:r>
                        <a:rPr lang="en-US" sz="1300" dirty="0" b="1">
                          <a:solidFill>
                            <a:srgbClr val="000000"/>
                          </a:solidFill>
                          <a:latin typeface="Calibri" pitchFamily="34" charset="0"/>
                          <a:ea typeface="Calibri" pitchFamily="34" charset="-122"/>
                          <a:cs typeface="Calibri" pitchFamily="34" charset="-120"/>
                        </a:rPr>
                        <a:t>Fall history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OR 2.8</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1.030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0.402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marL="0" indent="0">
                        <a:buNone/>
                      </a:pPr>
                      <a:r>
                        <a:rPr lang="en-US" sz="1300" dirty="0" b="1">
                          <a:solidFill>
                            <a:srgbClr val="000000"/>
                          </a:solidFill>
                          <a:latin typeface="Calibri" pitchFamily="34" charset="0"/>
                          <a:ea typeface="Calibri" pitchFamily="34" charset="-122"/>
                          <a:cs typeface="Calibri" pitchFamily="34" charset="-120"/>
                        </a:rPr>
                        <a:t>Motion (gait)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OR 2.1</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0.742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0.290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marL="0" indent="0">
                        <a:buNone/>
                      </a:pPr>
                      <a:r>
                        <a:rPr lang="en-US" sz="1300" dirty="0" b="1">
                          <a:solidFill>
                            <a:srgbClr val="000000"/>
                          </a:solidFill>
                          <a:latin typeface="Calibri" pitchFamily="34" charset="0"/>
                          <a:ea typeface="Calibri" pitchFamily="34" charset="-122"/>
                          <a:cs typeface="Calibri" pitchFamily="34" charset="-120"/>
                        </a:rPr>
                        <a:t>Physiology (OH)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OR 1.73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0.548</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0.214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marL="0" indent="0">
                        <a:buNone/>
                      </a:pPr>
                      <a:r>
                        <a:rPr lang="en-US" sz="1300" dirty="0" b="1">
                          <a:solidFill>
                            <a:srgbClr val="000000"/>
                          </a:solidFill>
                          <a:latin typeface="Calibri" pitchFamily="34" charset="0"/>
                          <a:ea typeface="Calibri" pitchFamily="34" charset="-122"/>
                          <a:cs typeface="Calibri" pitchFamily="34" charset="-120"/>
                        </a:rPr>
                        <a:t>Recovery (sleep)</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RR 1.27</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0.239</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0.093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TextBox 6"/>
          <p:cNvSpPr txBox="1"/>
          <p:nvPr/>
        </p:nvSpPr>
        <p:spPr>
          <a:xfrm>
            <a:off x="6583680" y="3794760"/>
            <a:ext cx="5029200" cy="411480"/>
          </a:xfrm>
          <a:prstGeom prst="rect">
            <a:avLst/>
          </a:prstGeom>
          <a:noFill/>
        </p:spPr>
        <p:txBody>
          <a:bodyPr wrap="square" lIns="45720" rIns="45720">
            <a:spAutoFit/>
          </a:bodyPr>
          <a:lstStyle/>
          <a:p>
            <a:pPr>
              <a:spcAft>
                <a:spcPts val="600"/>
              </a:spcAft>
            </a:pPr>
            <a:r>
              <a:rPr sz="1100" b="0">
                <a:solidFill>
                  <a:srgbClr val="595959"/>
                </a:solidFill>
                <a:latin typeface="Calibri"/>
              </a:rPr>
              <a:t>λ = ln(ratio) / Σ ln(ratio). Sources: Deandrea 2010 [11], JAMDA [13], SWAN [14].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Implementation (2/2): Gait &amp; Safety Fusion</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 2"/>
          <p:cNvSpPr txBox="1"/>
          <p:nvPr/>
        </p:nvSpPr>
        <p:spPr>
          <a:xfrm>
            <a:off x="640080" y="1234440"/>
            <a:ext cx="5303520" cy="4937760"/>
          </a:xfrm>
          <a:prstGeom prst="rect">
            <a:avLst/>
          </a:prstGeom>
          <a:noFill/>
          <a:ln/>
        </p:spPr>
        <p:txBody>
          <a:bodyPr wrap="square" lIns="0" tIns="0" rIns="0" bIns="0" rtlCol="0" anchor="t"/>
          <a:lstStyle/>
          <a:p>
            <a:pPr marL="0" indent="0">
              <a:spcAft>
                <a:spcPts val="800"/>
              </a:spcAft>
              <a:buNone/>
            </a:pPr>
            <a:r>
              <a:rPr lang="en-US" sz="1400" dirty="0" b="1">
                <a:solidFill>
                  <a:srgbClr val="1D2F82"/>
                </a:solidFill>
                <a:latin typeface="Calibri" pitchFamily="34" charset="0"/>
                <a:ea typeface="Calibri" pitchFamily="34" charset="-122"/>
                <a:cs typeface="Calibri" pitchFamily="34" charset="-120"/>
              </a:rPr>
              <a:t>Gait pipeline v2 (lower-back IMU, 100 Hz)</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Band-pass 0.5–15 Hz; remove turns (yaw &gt; 25 °/s ± 1 s)</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Initial contacts: McCamley method, person-specific step period</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Reject intervals outside 0.6–1.5 × median</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Stride-time CV, step/stride regularity, harmonic ratio, cadence</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Untrained index: mean of direction-signed z-scores, no labels used</a:t>
            </a:r>
            <a:endParaRPr lang="en-US" sz="1600" dirty="0"/>
          </a:p>
        </p:txBody>
      </p:sp>
      <p:sp>
        <p:nvSpPr>
          <p:cNvPr id="6" name="TextBox 5"/>
          <p:cNvSpPr txBox="1"/>
          <p:nvPr/>
        </p:nvSpPr>
        <p:spPr>
          <a:xfrm>
            <a:off x="6217920" y="1325880"/>
            <a:ext cx="5486400" cy="3566160"/>
          </a:xfrm>
          <a:prstGeom prst="rect">
            <a:avLst/>
          </a:prstGeom>
          <a:solidFill>
            <a:srgbClr val="F2F2F2"/>
          </a:solidFill>
        </p:spPr>
        <p:txBody>
          <a:bodyPr wrap="square" lIns="109728" rIns="109728" tIns="109728" bIns="109728">
            <a:spAutoFit/>
          </a:bodyPr>
          <a:lstStyle/>
          <a:p>
            <a:pPr>
              <a:spcAft>
                <a:spcPts val="600"/>
              </a:spcAft>
            </a:pPr>
            <a:r>
              <a:rPr sz="1050" b="0">
                <a:solidFill>
                  <a:srgbClr val="000000"/>
                </a:solidFill>
                <a:latin typeface="Courier New"/>
              </a:rPr>
              <a:t>def check_emergency_fused(message: str,</a:t>
            </a:r>
          </a:p>
          <a:p>
            <a:pPr>
              <a:spcAft>
                <a:spcPts val="600"/>
              </a:spcAft>
            </a:pPr>
            <a:r>
              <a:rPr sz="1050" b="0">
                <a:solidFill>
                  <a:srgbClr val="000000"/>
                </a:solidFill>
                <a:latin typeface="Courier New"/>
              </a:rPr>
              <a:t>        llm_res: tuple[bool, str, float],</a:t>
            </a:r>
          </a:p>
          <a:p>
            <a:pPr>
              <a:spcAft>
                <a:spcPts val="600"/>
              </a:spcAft>
            </a:pPr>
            <a:r>
              <a:rPr sz="1050" b="0">
                <a:solidFill>
                  <a:srgbClr val="000000"/>
                </a:solidFill>
                <a:latin typeface="Courier New"/>
              </a:rPr>
              <a:t>        biometric_event: dict | None = None</a:t>
            </a:r>
          </a:p>
          <a:p>
            <a:pPr>
              <a:spcAft>
                <a:spcPts val="600"/>
              </a:spcAft>
            </a:pPr>
            <a:r>
              <a:rPr sz="1050" b="0">
                <a:solidFill>
                  <a:srgbClr val="000000"/>
                </a:solidFill>
                <a:latin typeface="Courier New"/>
              </a:rPr>
              <a:t>        ) -&gt; tuple[bool, str, dict]:</a:t>
            </a:r>
          </a:p>
          <a:p>
            <a:pPr>
              <a:spcAft>
                <a:spcPts val="600"/>
              </a:spcAft>
            </a:pPr>
            <a:r>
              <a:rPr sz="1050" b="0">
                <a:solidFill>
                  <a:srgbClr val="000000"/>
                </a:solidFill>
                <a:latin typeface="Courier New"/>
              </a:rPr>
              <a:t>    ...</a:t>
            </a:r>
          </a:p>
          <a:p>
            <a:pPr>
              <a:spcAft>
                <a:spcPts val="600"/>
              </a:spcAft>
            </a:pPr>
            <a:r>
              <a:rPr sz="1050" b="0">
                <a:solidFill>
                  <a:srgbClr val="000000"/>
                </a:solidFill>
                <a:latin typeface="Courier New"/>
              </a:rPr>
              <a:t>    # Third signal (Review-II): physiological evidence</a:t>
            </a:r>
          </a:p>
          <a:p>
            <a:pPr>
              <a:spcAft>
                <a:spcPts val="600"/>
              </a:spcAft>
            </a:pPr>
            <a:r>
              <a:rPr sz="1050" b="0">
                <a:solidFill>
                  <a:srgbClr val="000000"/>
                </a:solidFill>
                <a:latin typeface="Courier New"/>
              </a:rPr>
              <a:t>    # independent of the text. An uncancelled fall detected</a:t>
            </a:r>
          </a:p>
          <a:p>
            <a:pPr>
              <a:spcAft>
                <a:spcPts val="600"/>
              </a:spcAft>
            </a:pPr>
            <a:r>
              <a:rPr sz="1050" b="0">
                <a:solidFill>
                  <a:srgbClr val="000000"/>
                </a:solidFill>
                <a:latin typeface="Courier New"/>
              </a:rPr>
              <a:t>    # by the ring/phone in the last 30 minutes escalates</a:t>
            </a:r>
          </a:p>
          <a:p>
            <a:pPr>
              <a:spcAft>
                <a:spcPts val="600"/>
              </a:spcAft>
            </a:pPr>
            <a:r>
              <a:rPr sz="1050" b="0">
                <a:solidFill>
                  <a:srgbClr val="000000"/>
                </a:solidFill>
                <a:latin typeface="Courier New"/>
              </a:rPr>
              <a:t>    # ANY message, even a calm-sounding one ("I'm fine").</a:t>
            </a:r>
          </a:p>
          <a:p>
            <a:pPr>
              <a:spcAft>
                <a:spcPts val="600"/>
              </a:spcAft>
            </a:pPr>
            <a:r>
              <a:rPr sz="1050" b="0">
                <a:solidFill>
                  <a:srgbClr val="000000"/>
                </a:solidFill>
                <a:latin typeface="Courier New"/>
              </a:rPr>
              <a:t>    biometric_triggered = bool(biometric_event)</a:t>
            </a:r>
          </a:p>
          <a:p>
            <a:pPr>
              <a:spcAft>
                <a:spcPts val="600"/>
              </a:spcAft>
            </a:pPr>
            <a:r>
              <a:rPr sz="1050" b="0">
                <a:solidFill>
                  <a:srgbClr val="000000"/>
                </a:solidFill>
                <a:latin typeface="Courier New"/>
              </a:rPr>
              <a:t/>
            </a:r>
          </a:p>
          <a:p>
            <a:pPr>
              <a:spcAft>
                <a:spcPts val="600"/>
              </a:spcAft>
            </a:pPr>
            <a:r>
              <a:rPr sz="1050" b="0">
                <a:solidFill>
                  <a:srgbClr val="000000"/>
                </a:solidFill>
                <a:latin typeface="Courier New"/>
              </a:rPr>
              <a:t>    is_emergency = bool(effective_kw_triggered) \</a:t>
            </a:r>
          </a:p>
          <a:p>
            <a:pPr>
              <a:spcAft>
                <a:spcPts val="600"/>
              </a:spcAft>
            </a:pPr>
            <a:r>
              <a:rPr sz="1050" b="0">
                <a:solidFill>
                  <a:srgbClr val="000000"/>
                </a:solidFill>
                <a:latin typeface="Courier New"/>
              </a:rPr>
              <a:t>        or llm_triggered or biometric_triggered</a:t>
            </a:r>
          </a:p>
        </p:txBody>
      </p:sp>
      <p:sp>
        <p:nvSpPr>
          <p:cNvPr id="7" name="TextBox 6"/>
          <p:cNvSpPr txBox="1"/>
          <p:nvPr/>
        </p:nvSpPr>
        <p:spPr>
          <a:xfrm>
            <a:off x="6217920" y="4983480"/>
            <a:ext cx="5486400" cy="411480"/>
          </a:xfrm>
          <a:prstGeom prst="rect">
            <a:avLst/>
          </a:prstGeom>
          <a:noFill/>
        </p:spPr>
        <p:txBody>
          <a:bodyPr wrap="square" lIns="45720" rIns="45720">
            <a:spAutoFit/>
          </a:bodyPr>
          <a:lstStyle/>
          <a:p>
            <a:pPr>
              <a:spcAft>
                <a:spcPts val="600"/>
              </a:spcAft>
            </a:pPr>
            <a:r>
              <a:rPr sz="1100" b="0">
                <a:solidFill>
                  <a:srgbClr val="595959"/>
                </a:solidFill>
                <a:latin typeface="Calibri"/>
              </a:rPr>
              <a:t>agent/tools.py · check_emergency_fused (excerpt)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Results &amp; Analysis (75%): Engine</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548640" y="1188720"/>
          <a:ext cx="7132320" cy="2468880"/>
        </p:xfrm>
        <a:graphic>
          <a:graphicData uri="http://schemas.openxmlformats.org/drawingml/2006/table">
            <a:tbl>
              <a:tblPr/>
              <a:tblGrid>
                <a:gridCol w="2651760"/>
                <a:gridCol w="685800"/>
                <a:gridCol w="1234440"/>
                <a:gridCol w="685800"/>
                <a:gridCol w="1874519"/>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User (synthetic)</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FRS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411480">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Arun (low risk)</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Meera (luteal + poor recovery)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MODERATE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cycle-aware; 48 without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Ravi (stale data)</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data flagged STALE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Lakshmi (recent fall)</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71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Priya (healthy luteal)</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cycle-aware; 6 without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pic>
        <p:nvPicPr>
          <p:cNvPr id="6" name="Picture 5" descr="cycle_ablation.png"/>
          <p:cNvPicPr>
            <a:picLocks noChangeAspect="1"/>
          </p:cNvPicPr>
          <p:nvPr/>
        </p:nvPicPr>
        <p:blipFill>
          <a:blip r:embed="rId3"/>
          <a:stretch>
            <a:fillRect/>
          </a:stretch>
        </p:blipFill>
        <p:spPr>
          <a:xfrm>
            <a:off x="971550" y="3840480"/>
            <a:ext cx="6286500" cy="2514600"/>
          </a:xfrm>
          <a:prstGeom prst="rect">
            <a:avLst/>
          </a:prstGeom>
        </p:spPr>
      </p:pic>
      <p:sp>
        <p:nvSpPr>
          <p:cNvPr id="7" name="TextBox 6"/>
          <p:cNvSpPr txBox="1"/>
          <p:nvPr/>
        </p:nvSpPr>
        <p:spPr>
          <a:xfrm>
            <a:off x="8229600" y="1188720"/>
            <a:ext cx="3474720" cy="5029200"/>
          </a:xfrm>
          <a:prstGeom prst="rect">
            <a:avLst/>
          </a:prstGeom>
          <a:noFill/>
        </p:spPr>
        <p:txBody>
          <a:bodyPr wrap="square" lIns="45720" rIns="45720">
            <a:spAutoFit/>
          </a:bodyPr>
          <a:lstStyle/>
          <a:p>
            <a:pPr>
              <a:spcAft>
                <a:spcPts val="600"/>
              </a:spcAft>
            </a:pPr>
            <a:r>
              <a:rPr sz="1400" b="1">
                <a:solidFill>
                  <a:srgbClr val="1D2F82"/>
                </a:solidFill>
                <a:latin typeface="Calibri"/>
              </a:rPr>
              <a:t>Cycle-aware ablation</a:t>
            </a:r>
          </a:p>
          <a:p>
            <a:pPr marL="177800" indent="-177800">
              <a:spcAft>
                <a:spcPts val="600"/>
              </a:spcAft>
              <a:buChar char="•"/>
            </a:pPr>
            <a:r>
              <a:rPr sz="1400" b="0">
                <a:solidFill>
                  <a:srgbClr val="000000"/>
                </a:solidFill>
                <a:latin typeface="Calibri"/>
              </a:rPr>
              <a:t>Healthy luteal: risk 18.1 → 10.2 (9 days, −43.4%)</a:t>
            </a:r>
          </a:p>
          <a:p>
            <a:pPr marL="177800" indent="-177800">
              <a:spcAft>
                <a:spcPts val="600"/>
              </a:spcAft>
              <a:buChar char="•"/>
            </a:pPr>
            <a:r>
              <a:rPr sz="1400" b="0">
                <a:solidFill>
                  <a:srgbClr val="000000"/>
                </a:solidFill>
                <a:latin typeface="Calibri"/>
              </a:rPr>
              <a:t>Strained luteal: 19.3 → 11.5; flags 2 → 0</a:t>
            </a:r>
          </a:p>
          <a:p>
            <a:pPr marL="177800" indent="-177800">
              <a:spcAft>
                <a:spcPts val="600"/>
              </a:spcAft>
              <a:buChar char="•"/>
            </a:pPr>
            <a:r>
              <a:rPr sz="1400" b="0">
                <a:solidFill>
                  <a:srgbClr val="000000"/>
                </a:solidFill>
                <a:latin typeface="Calibri"/>
              </a:rPr>
              <a:t>Genuine acute strain is kept (last 3 days stay high)</a:t>
            </a:r>
          </a:p>
          <a:p>
            <a:pPr marL="177800" indent="-177800">
              <a:spcAft>
                <a:spcPts val="600"/>
              </a:spcAft>
              <a:buChar char="•"/>
            </a:pPr>
            <a:r>
              <a:rPr sz="1400" b="0">
                <a:solidFill>
                  <a:srgbClr val="000000"/>
                </a:solidFill>
                <a:latin typeface="Calibri"/>
              </a:rPr>
              <a:t>Synthetic cohort: shows the engine behaves as designed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Results: Real-Data Validation (LTMM)</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8778240" y="1188720"/>
          <a:ext cx="2953512" cy="2697480"/>
        </p:xfrm>
        <a:graphic>
          <a:graphicData uri="http://schemas.openxmlformats.org/drawingml/2006/table">
            <a:tbl>
              <a:tblPr/>
              <a:tblGrid>
                <a:gridCol w="1828800"/>
                <a:gridCol w="1124712"/>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Faller vs non-faller</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v2 gait index, untrained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0.686</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95% CI</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0.561–0.808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Timed Up and Go</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0.683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Berg Balance Scale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0.618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Cadence alone (v2)</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0.770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pic>
        <p:nvPicPr>
          <p:cNvPr id="6" name="Picture 5" descr="ltmm_roc.png"/>
          <p:cNvPicPr>
            <a:picLocks noChangeAspect="1"/>
          </p:cNvPicPr>
          <p:nvPr/>
        </p:nvPicPr>
        <p:blipFill>
          <a:blip r:embed="rId3"/>
          <a:stretch>
            <a:fillRect/>
          </a:stretch>
        </p:blipFill>
        <p:spPr>
          <a:xfrm>
            <a:off x="457200" y="1327224"/>
            <a:ext cx="5212080" cy="4752190"/>
          </a:xfrm>
          <a:prstGeom prst="rect">
            <a:avLst/>
          </a:prstGeom>
        </p:spPr>
      </p:pic>
      <p:pic>
        <p:nvPicPr>
          <p:cNvPr id="7" name="Picture 6" descr="gait_detector_bench.png"/>
          <p:cNvPicPr>
            <a:picLocks noChangeAspect="1"/>
          </p:cNvPicPr>
          <p:nvPr/>
        </p:nvPicPr>
        <p:blipFill>
          <a:blip r:embed="rId4"/>
          <a:stretch>
            <a:fillRect/>
          </a:stretch>
        </p:blipFill>
        <p:spPr>
          <a:xfrm>
            <a:off x="5760720" y="1101090"/>
            <a:ext cx="2834640" cy="2598420"/>
          </a:xfrm>
          <a:prstGeom prst="rect">
            <a:avLst/>
          </a:prstGeom>
        </p:spPr>
      </p:pic>
      <p:sp>
        <p:nvSpPr>
          <p:cNvPr id="8" name="TextBox 7"/>
          <p:cNvSpPr txBox="1"/>
          <p:nvPr/>
        </p:nvSpPr>
        <p:spPr>
          <a:xfrm>
            <a:off x="5760720" y="3886200"/>
            <a:ext cx="5943600" cy="2286000"/>
          </a:xfrm>
          <a:prstGeom prst="rect">
            <a:avLst/>
          </a:prstGeom>
          <a:noFill/>
        </p:spPr>
        <p:txBody>
          <a:bodyPr wrap="square" lIns="45720" rIns="45720">
            <a:spAutoFit/>
          </a:bodyPr>
          <a:lstStyle/>
          <a:p>
            <a:pPr marL="177800" indent="-177800">
              <a:spcAft>
                <a:spcPts val="600"/>
              </a:spcAft>
              <a:buChar char="•"/>
            </a:pPr>
            <a:r>
              <a:rPr sz="1400" b="0">
                <a:solidFill>
                  <a:srgbClr val="000000"/>
                </a:solidFill>
                <a:latin typeface="Calibri"/>
              </a:rPr>
              <a:t>n = 73 (35 fallers, 38 non-fallers); TUG/Berg on 69</a:t>
            </a:r>
          </a:p>
          <a:p>
            <a:pPr marL="177800" indent="-177800">
              <a:spcAft>
                <a:spcPts val="600"/>
              </a:spcAft>
              <a:buChar char="•"/>
            </a:pPr>
            <a:r>
              <a:rPr sz="1400" b="0">
                <a:solidFill>
                  <a:srgbClr val="000000"/>
                </a:solidFill>
                <a:latin typeface="Calibri"/>
              </a:rPr>
              <a:t>Detector error 6.79 → 0.52 CV points (r 0.61 → 0.98)</a:t>
            </a:r>
          </a:p>
          <a:p>
            <a:pPr marL="177800" indent="-177800">
              <a:spcAft>
                <a:spcPts val="600"/>
              </a:spcAft>
              <a:buChar char="•"/>
            </a:pPr>
            <a:r>
              <a:rPr sz="1400" b="0">
                <a:solidFill>
                  <a:srgbClr val="000000"/>
                </a:solidFill>
                <a:latin typeface="Calibri"/>
              </a:rPr>
              <a:t>Real data: stride CV median 8.36% → 3.00%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Results (contd.): Rigor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548640" y="1188720"/>
          <a:ext cx="4937760" cy="2971800"/>
        </p:xfrm>
        <a:graphic>
          <a:graphicData uri="http://schemas.openxmlformats.org/drawingml/2006/table">
            <a:tbl>
              <a:tblPr/>
              <a:tblGrid>
                <a:gridCol w="548640"/>
                <a:gridCol w="3566160"/>
                <a:gridCol w="822960"/>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Exp 2</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Lab walks, n = 73, pre-registered</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M0</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v2 Gait Index (untrained)</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0.686</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M1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v3 Index: gait + turns (untrained)</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0.634</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M2</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LogReg: v2 features</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0.721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M3</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LogReg: v3 gait + turns (k=8)</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0.661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M4</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LogReg: v3 + age + sex (k=8)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0.651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M5</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RandomForest: v3 gait + turns</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0.593</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M6</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RandomForest: v3 + age + sex</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0.586</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6" name="Table 6"/>
          <p:cNvGraphicFramePr>
            <a:graphicFrameLocks noGrp="1"/>
          </p:cNvGraphicFramePr>
          <p:nvPr>
            <p:extLst>
              <p:ext uri="{D42A27DB-BD31-4B8C-83A1-F6EECF244321}">
                <p14:modId xmlns:p14="http://schemas.microsoft.com/office/powerpoint/2010/main" val="1579011935"/>
              </p:ext>
            </p:extLst>
          </p:nvPr>
        </p:nvGraphicFramePr>
        <p:xfrm>
          <a:off x="5852160" y="1188720"/>
          <a:ext cx="5577840" cy="2240280"/>
        </p:xfrm>
        <a:graphic>
          <a:graphicData uri="http://schemas.openxmlformats.org/drawingml/2006/table">
            <a:tbl>
              <a:tblPr/>
              <a:tblGrid>
                <a:gridCol w="548640"/>
                <a:gridCol w="3657600"/>
                <a:gridCol w="548640"/>
                <a:gridCol w="822960"/>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Exp 3</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Daily life, 3-day recordings</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M0</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Lab v2 index, same subjects (reference)</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0.655</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D0</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Daily-life index (untrained)</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0.587</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D1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Combined lab + daily index (untrained) ★</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0.636</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D2</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LogReg: daily features</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0.519</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marL="0" indent="0">
                        <a:buNone/>
                      </a:pPr>
                      <a:r>
                        <a:rPr lang="en-US" sz="1100" dirty="0" b="1">
                          <a:solidFill>
                            <a:srgbClr val="000000"/>
                          </a:solidFill>
                          <a:latin typeface="Calibri" pitchFamily="34" charset="0"/>
                          <a:ea typeface="Calibri" pitchFamily="34" charset="-122"/>
                          <a:cs typeface="Calibri" pitchFamily="34" charset="-120"/>
                        </a:rPr>
                        <a:t>D3</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LogReg: lab + daily (k=6)</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0.650</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TextBox 6"/>
          <p:cNvSpPr txBox="1"/>
          <p:nvPr/>
        </p:nvSpPr>
        <p:spPr>
          <a:xfrm>
            <a:off x="5852160" y="3703320"/>
            <a:ext cx="5852160" cy="2560320"/>
          </a:xfrm>
          <a:prstGeom prst="rect">
            <a:avLst/>
          </a:prstGeom>
          <a:noFill/>
        </p:spPr>
        <p:txBody>
          <a:bodyPr wrap="square" lIns="45720" rIns="45720">
            <a:spAutoFit/>
          </a:bodyPr>
          <a:lstStyle/>
          <a:p>
            <a:pPr marL="177800" indent="-177800">
              <a:spcAft>
                <a:spcPts val="600"/>
              </a:spcAft>
              <a:buChar char="•"/>
            </a:pPr>
            <a:r>
              <a:rPr sz="1300" b="0">
                <a:solidFill>
                  <a:srgbClr val="000000"/>
                </a:solidFill>
                <a:latin typeface="Calibri"/>
              </a:rPr>
              <a:t>Pre-registered, every model reported: more features and complex models did not beat M0</a:t>
            </a:r>
          </a:p>
          <a:p>
            <a:pPr marL="177800" indent="-177800">
              <a:spcAft>
                <a:spcPts val="600"/>
              </a:spcAft>
              <a:buChar char="•"/>
            </a:pPr>
            <a:r>
              <a:rPr sz="1300" b="0">
                <a:solidFill>
                  <a:srgbClr val="000000"/>
                </a:solidFill>
                <a:latin typeface="Calibri"/>
              </a:rPr>
              <a:t>Daily-life gait did not improve on the same subjects: best D3 0.650 vs lab M0 0.655</a:t>
            </a:r>
          </a:p>
          <a:p>
            <a:pPr marL="177800" indent="-177800">
              <a:spcAft>
                <a:spcPts val="600"/>
              </a:spcAft>
              <a:buChar char="•"/>
            </a:pPr>
            <a:r>
              <a:rPr sz="1300" b="0">
                <a:solidFill>
                  <a:srgbClr val="000000"/>
                </a:solidFill>
                <a:latin typeface="Calibri"/>
              </a:rPr>
              <a:t>Cadence is the consistent marker: lab AUC 0.770, daily life 0.659</a:t>
            </a:r>
          </a:p>
          <a:p>
            <a:pPr marL="177800" indent="-177800">
              <a:spcAft>
                <a:spcPts val="600"/>
              </a:spcAft>
              <a:buChar char="•"/>
            </a:pPr>
            <a:r>
              <a:rPr sz="1300" b="0">
                <a:solidFill>
                  <a:srgbClr val="000000"/>
                </a:solidFill>
                <a:latin typeface="Calibri"/>
              </a:rPr>
              <a:t>Askhatova 2026: 0.749 with 3-day data + deep network (black box)</a:t>
            </a:r>
          </a:p>
        </p:txBody>
      </p:sp>
      <p:sp>
        <p:nvSpPr>
          <p:cNvPr id="8" name="TextBox 7"/>
          <p:cNvSpPr txBox="1"/>
          <p:nvPr/>
        </p:nvSpPr>
        <p:spPr>
          <a:xfrm>
            <a:off x="548640" y="4251960"/>
            <a:ext cx="5029200" cy="411480"/>
          </a:xfrm>
          <a:prstGeom prst="rect">
            <a:avLst/>
          </a:prstGeom>
          <a:noFill/>
        </p:spPr>
        <p:txBody>
          <a:bodyPr wrap="square" lIns="45720" rIns="45720">
            <a:spAutoFit/>
          </a:bodyPr>
          <a:lstStyle/>
          <a:p>
            <a:pPr>
              <a:spcAft>
                <a:spcPts val="600"/>
              </a:spcAft>
            </a:pPr>
            <a:r>
              <a:rPr sz="1100" b="0">
                <a:solidFill>
                  <a:srgbClr val="595959"/>
                </a:solidFill>
                <a:latin typeface="Calibri"/>
              </a:rPr>
              <a:t>★ primary model. Trained models: mean over 20×5 subject-wise CV.</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Results (contd.): Agent Versions A–D</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2167128"/>
        </p:xfrm>
        <a:graphic>
          <a:graphicData uri="http://schemas.openxmlformats.org/drawingml/2006/table">
            <a:tbl>
              <a:tblPr/>
              <a:tblGrid>
                <a:gridCol w="2926080"/>
                <a:gridCol w="1417320"/>
                <a:gridCol w="1188720"/>
                <a:gridCol w="1325880"/>
                <a:gridCol w="1188720"/>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Emergencies caught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False alarms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Strict grounding</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Stale data disclosed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438912">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A · Plain LLM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0.723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B · Plain RAG</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0.606</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C · Fetch-all + keyword safety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0.955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marL="0" indent="0">
                        <a:buNone/>
                      </a:pPr>
                      <a:r>
                        <a:rPr lang="en-US" sz="1200" dirty="0" b="1">
                          <a:solidFill>
                            <a:srgbClr val="000000"/>
                          </a:solidFill>
                          <a:latin typeface="Calibri" pitchFamily="34" charset="0"/>
                          <a:ea typeface="Calibri" pitchFamily="34" charset="-122"/>
                          <a:cs typeface="Calibri" pitchFamily="34" charset="-120"/>
                        </a:rPr>
                        <a:t>D · Ours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0.979</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pic>
        <p:nvPicPr>
          <p:cNvPr id="6" name="Picture 5" descr="fall_emergency_detection.png"/>
          <p:cNvPicPr>
            <a:picLocks noChangeAspect="1"/>
          </p:cNvPicPr>
          <p:nvPr/>
        </p:nvPicPr>
        <p:blipFill>
          <a:blip r:embed="rId3"/>
          <a:stretch>
            <a:fillRect/>
          </a:stretch>
        </p:blipFill>
        <p:spPr>
          <a:xfrm>
            <a:off x="895056" y="3611880"/>
            <a:ext cx="4747846" cy="2743200"/>
          </a:xfrm>
          <a:prstGeom prst="rect">
            <a:avLst/>
          </a:prstGeom>
        </p:spPr>
      </p:pic>
      <p:pic>
        <p:nvPicPr>
          <p:cNvPr id="7" name="Picture 6" descr="fall_grounding.png"/>
          <p:cNvPicPr>
            <a:picLocks noChangeAspect="1"/>
          </p:cNvPicPr>
          <p:nvPr/>
        </p:nvPicPr>
        <p:blipFill>
          <a:blip r:embed="rId4"/>
          <a:stretch>
            <a:fillRect/>
          </a:stretch>
        </p:blipFill>
        <p:spPr>
          <a:xfrm>
            <a:off x="6652259" y="3611880"/>
            <a:ext cx="4663440" cy="2743200"/>
          </a:xfrm>
          <a:prstGeom prst="rect">
            <a:avLst/>
          </a:prstGeom>
        </p:spPr>
      </p:pic>
      <p:sp>
        <p:nvSpPr>
          <p:cNvPr id="8" name="TextBox 7"/>
          <p:cNvSpPr txBox="1"/>
          <p:nvPr/>
        </p:nvSpPr>
        <p:spPr>
          <a:xfrm>
            <a:off x="8869680" y="1188720"/>
            <a:ext cx="2834640" cy="2377440"/>
          </a:xfrm>
          <a:prstGeom prst="rect">
            <a:avLst/>
          </a:prstGeom>
          <a:noFill/>
        </p:spPr>
        <p:txBody>
          <a:bodyPr wrap="square" lIns="45720" rIns="45720">
            <a:spAutoFit/>
          </a:bodyPr>
          <a:lstStyle/>
          <a:p>
            <a:pPr marL="177800" indent="-177800">
              <a:spcAft>
                <a:spcPts val="600"/>
              </a:spcAft>
              <a:buChar char="•"/>
            </a:pPr>
            <a:r>
              <a:rPr sz="1200" b="0">
                <a:solidFill>
                  <a:srgbClr val="000000"/>
                </a:solidFill>
                <a:latin typeface="Calibri"/>
              </a:rPr>
              <a:t>11 scenarios, 1 run each</a:t>
            </a:r>
          </a:p>
          <a:p>
            <a:pPr marL="177800" indent="-177800">
              <a:spcAft>
                <a:spcPts val="600"/>
              </a:spcAft>
              <a:buChar char="•"/>
            </a:pPr>
            <a:r>
              <a:rPr sz="1200" b="0">
                <a:solidFill>
                  <a:srgbClr val="000000"/>
                </a:solidFill>
                <a:latin typeface="Calibri"/>
              </a:rPr>
              <a:t>D fetched 0.88 streams per reply; C fetches all 12</a:t>
            </a:r>
          </a:p>
          <a:p>
            <a:pPr marL="177800" indent="-177800">
              <a:spcAft>
                <a:spcPts val="600"/>
              </a:spcAft>
              <a:buChar char="•"/>
            </a:pPr>
            <a:r>
              <a:rPr sz="1200" b="0">
                <a:solidFill>
                  <a:srgbClr val="000000"/>
                </a:solidFill>
                <a:latin typeface="Calibri"/>
              </a:rPr>
              <a:t>Self-verification fired 1/11: 0.80 → 1.00</a:t>
            </a:r>
          </a:p>
          <a:p>
            <a:pPr marL="177800" indent="-177800">
              <a:spcAft>
                <a:spcPts val="600"/>
              </a:spcAft>
              <a:buChar char="•"/>
            </a:pPr>
            <a:r>
              <a:rPr sz="1200" b="0">
                <a:solidFill>
                  <a:srgbClr val="000000"/>
                </a:solidFill>
                <a:latin typeface="Calibri"/>
              </a:rPr>
              <a:t>Latency D 19.61 s vs C 15.98 s (batch run, rate-limit retries): not faster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Live Demo</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2971800"/>
        </p:xfrm>
        <a:graphic>
          <a:graphicData uri="http://schemas.openxmlformats.org/drawingml/2006/table">
            <a:tbl>
              <a:tblPr/>
              <a:tblGrid>
                <a:gridCol w="548640"/>
                <a:gridCol w="1554480"/>
                <a:gridCol w="3566160"/>
                <a:gridCol w="5394960"/>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User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Message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to point out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64008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Meera</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What's my fall risk today?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Score, tier, top contributors, cycle adjustment; grounding 1.00 in the evaluation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Meera</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I fell asleep on the couch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No false alarm (guarded fall pattern)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/user lakshmi</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I'm fine, just a bit shaken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EMERGENCY from the ring fall event; LLM alone said no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/user ravi</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What's my fall risk today?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Discloses stale data, lower confidence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Box 5"/>
          <p:cNvSpPr txBox="1"/>
          <p:nvPr/>
        </p:nvSpPr>
        <p:spPr>
          <a:xfrm>
            <a:off x="548640" y="4572000"/>
            <a:ext cx="10972800" cy="1097280"/>
          </a:xfrm>
          <a:prstGeom prst="rect">
            <a:avLst/>
          </a:prstGeom>
          <a:noFill/>
        </p:spPr>
        <p:txBody>
          <a:bodyPr wrap="square" lIns="45720" rIns="45720">
            <a:spAutoFit/>
          </a:bodyPr>
          <a:lstStyle/>
          <a:p>
            <a:pPr marL="177800" indent="-177800">
              <a:spcAft>
                <a:spcPts val="600"/>
              </a:spcAft>
              <a:buChar char="•"/>
            </a:pPr>
            <a:r>
              <a:rPr sz="1400" b="0">
                <a:solidFill>
                  <a:srgbClr val="000000"/>
                </a:solidFill>
                <a:latin typeface="Calibri"/>
              </a:rPr>
              <a:t>Run: py demo_display.py (switch users with /user &lt;name&gt;)</a:t>
            </a:r>
          </a:p>
          <a:p>
            <a:pPr marL="177800" indent="-177800">
              <a:spcAft>
                <a:spcPts val="600"/>
              </a:spcAft>
              <a:buChar char="•"/>
            </a:pPr>
            <a:r>
              <a:rPr sz="1400" b="0">
                <a:solidFill>
                  <a:srgbClr val="000000"/>
                </a:solidFill>
                <a:latin typeface="Calibri"/>
              </a:rPr>
              <a:t>Backup: recorded video of the same four steps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Challenges &amp; Remaining Work</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 2"/>
          <p:cNvSpPr txBox="1"/>
          <p:nvPr/>
        </p:nvSpPr>
        <p:spPr>
          <a:xfrm>
            <a:off x="6675120" y="1234440"/>
            <a:ext cx="5029200" cy="4937760"/>
          </a:xfrm>
          <a:prstGeom prst="rect">
            <a:avLst/>
          </a:prstGeom>
          <a:noFill/>
          <a:ln/>
        </p:spPr>
        <p:txBody>
          <a:bodyPr wrap="square" lIns="0" tIns="0" rIns="0" bIns="0" rtlCol="0" anchor="t"/>
          <a:lstStyle/>
          <a:p>
            <a:pPr marL="0" indent="0">
              <a:spcAft>
                <a:spcPts val="800"/>
              </a:spcAft>
              <a:buNone/>
            </a:pPr>
            <a:r>
              <a:rPr lang="en-US" sz="1400" dirty="0" b="1">
                <a:solidFill>
                  <a:srgbClr val="1D2F82"/>
                </a:solidFill>
                <a:latin typeface="Calibri" pitchFamily="34" charset="0"/>
                <a:ea typeface="Calibri" pitchFamily="34" charset="-122"/>
                <a:cs typeface="Calibri" pitchFamily="34" charset="-120"/>
              </a:rPr>
              <a:t>Limitations we state ourselves</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Retrospective fall labels: discrimination, not prediction</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Lower-back sensor, not the ring</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Small sample: n = 73 lab walks</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Synthetic demo cohort for engine and agent tests</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Evidence weights approximate (studies not jointly adjusted)</a:t>
            </a:r>
            <a:endParaRPr lang="en-US" sz="1600" dirty="0"/>
          </a:p>
          <a:p>
            <a:pPr marL="177800" indent="-1778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No authentication yet</a:t>
            </a:r>
            <a:endParaRPr lang="en-US" sz="1600" dirty="0"/>
          </a:p>
        </p:txBody>
      </p:sp>
      <p:graphicFrame>
        <p:nvGraphicFramePr>
          <p:cNvPr id="6" name="Table 6"/>
          <p:cNvGraphicFramePr>
            <a:graphicFrameLocks noGrp="1"/>
          </p:cNvGraphicFramePr>
          <p:nvPr>
            <p:extLst>
              <p:ext uri="{D42A27DB-BD31-4B8C-83A1-F6EECF244321}">
                <p14:modId xmlns:p14="http://schemas.microsoft.com/office/powerpoint/2010/main" val="1579011935"/>
              </p:ext>
            </p:extLst>
          </p:nvPr>
        </p:nvGraphicFramePr>
        <p:xfrm>
          <a:off x="548640" y="1325880"/>
          <a:ext cx="5943600" cy="3703320"/>
        </p:xfrm>
        <a:graphic>
          <a:graphicData uri="http://schemas.openxmlformats.org/drawingml/2006/table">
            <a:tbl>
              <a:tblPr/>
              <a:tblGrid>
                <a:gridCol w="2651760"/>
                <a:gridCol w="3291840"/>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Challenge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Solution</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65836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API rate limits (429)</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Retry with backoff; batched evaluation pauses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5836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LLM hallucinated numbers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Strict grounding + one self-verification retry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5836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Keyword false alarms (“fell asleep”)</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LLM override + guarded fall patterns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5836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Implausible gait variability (v1)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Turn removal + McCamley detector (v2)</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5836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No dataset with ring + falls + chat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Validate each layer on its own data</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Remaining Work (25%) &amp; Timeline</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5" name="Table 5"/>
          <p:cNvGraphicFramePr>
            <a:graphicFrameLocks noGrp="1"/>
          </p:cNvGraphicFramePr>
          <p:nvPr>
            <p:extLst>
              <p:ext uri="{D42A27DB-BD31-4B8C-83A1-F6EECF244321}">
                <p14:modId xmlns:p14="http://schemas.microsoft.com/office/powerpoint/2010/main" val="1579011935"/>
              </p:ext>
            </p:extLst>
          </p:nvPr>
        </p:nvGraphicFramePr>
        <p:xfrm>
          <a:off x="640080" y="1325880"/>
          <a:ext cx="10881359" cy="4379976"/>
        </p:xfrm>
        <a:graphic>
          <a:graphicData uri="http://schemas.openxmlformats.org/drawingml/2006/table">
            <a:tbl>
              <a:tblPr/>
              <a:tblGrid>
                <a:gridCol w="2377440"/>
                <a:gridCol w="6035040"/>
                <a:gridCol w="2468880"/>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Dates (proposed)</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Work item</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r>
              <a:tr h="566928">
                <a:tc>
                  <a:txBody>
                    <a:bodyPr/>
                    <a:lstStyle/>
                    <a:p>
                      <a:pPr marL="0" indent="0">
                        <a:buNone/>
                      </a:pPr>
                      <a:r>
                        <a:rPr lang="en-US" sz="1400" dirty="0" b="1">
                          <a:solidFill>
                            <a:srgbClr val="000000"/>
                          </a:solidFill>
                          <a:latin typeface="Calibri" pitchFamily="34" charset="0"/>
                          <a:ea typeface="Calibri" pitchFamily="34" charset="-122"/>
                          <a:cs typeface="Calibri" pitchFamily="34" charset="-120"/>
                        </a:rPr>
                        <a:t>01–07 Oct 2026</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Port the v2 gait algorithm to phone / ring IMU</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Motion layer from real gait</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marL="0" indent="0">
                        <a:buNone/>
                      </a:pPr>
                      <a:r>
                        <a:rPr lang="en-US" sz="1400" dirty="0" b="1">
                          <a:solidFill>
                            <a:srgbClr val="000000"/>
                          </a:solidFill>
                          <a:latin typeface="Calibri" pitchFamily="34" charset="0"/>
                          <a:ea typeface="Calibri" pitchFamily="34" charset="-122"/>
                          <a:cs typeface="Calibri" pitchFamily="34" charset="-120"/>
                        </a:rPr>
                        <a:t>08–14 Oct 2026</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Validate the cycle layer on mcPHASES</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Cycle-layer results</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marL="0" indent="0">
                        <a:buNone/>
                      </a:pPr>
                      <a:r>
                        <a:rPr lang="en-US" sz="1400" dirty="0" b="1">
                          <a:solidFill>
                            <a:srgbClr val="000000"/>
                          </a:solidFill>
                          <a:latin typeface="Calibri" pitchFamily="34" charset="0"/>
                          <a:ea typeface="Calibri" pitchFamily="34" charset="-122"/>
                          <a:cs typeface="Calibri" pitchFamily="34" charset="-120"/>
                        </a:rPr>
                        <a:t>08–14 Oct 2026</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Learn layer weights from data; compare with evidence weights</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Weight comparison</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marL="0" indent="0">
                        <a:buNone/>
                      </a:pPr>
                      <a:r>
                        <a:rPr lang="en-US" sz="1400" dirty="0" b="1">
                          <a:solidFill>
                            <a:srgbClr val="000000"/>
                          </a:solidFill>
                          <a:latin typeface="Calibri" pitchFamily="34" charset="0"/>
                          <a:ea typeface="Calibri" pitchFamily="34" charset="-122"/>
                          <a:cs typeface="Calibri" pitchFamily="34" charset="-120"/>
                        </a:rPr>
                        <a:t>15–21 Oct 2026</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Flutter integration incl. the fall_risk card</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App build</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marL="0" indent="0">
                        <a:buNone/>
                      </a:pPr>
                      <a:r>
                        <a:rPr lang="en-US" sz="1400" dirty="0" b="1">
                          <a:solidFill>
                            <a:srgbClr val="000000"/>
                          </a:solidFill>
                          <a:latin typeface="Calibri" pitchFamily="34" charset="0"/>
                          <a:ea typeface="Calibri" pitchFamily="34" charset="-122"/>
                          <a:cs typeface="Calibri" pitchFamily="34" charset="-120"/>
                        </a:rPr>
                        <a:t>15–21 Oct 2026</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Authentication: verified JWT + row-level security</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Secured API</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marL="0" indent="0">
                        <a:buNone/>
                      </a:pPr>
                      <a:r>
                        <a:rPr lang="en-US" sz="1400" dirty="0" b="1">
                          <a:solidFill>
                            <a:srgbClr val="000000"/>
                          </a:solidFill>
                          <a:latin typeface="Calibri" pitchFamily="34" charset="0"/>
                          <a:ea typeface="Calibri" pitchFamily="34" charset="-122"/>
                          <a:cs typeface="Calibri" pitchFamily="34" charset="-120"/>
                        </a:rPr>
                        <a:t>22–27 Oct 2026</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Final report and slides</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Report</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marL="0" indent="0">
                        <a:buNone/>
                      </a:pPr>
                      <a:r>
                        <a:rPr lang="en-US" sz="1400" dirty="0" b="1">
                          <a:solidFill>
                            <a:srgbClr val="000000"/>
                          </a:solidFill>
                          <a:latin typeface="Calibri" pitchFamily="34" charset="0"/>
                          <a:ea typeface="Calibri" pitchFamily="34" charset="-122"/>
                          <a:cs typeface="Calibri" pitchFamily="34" charset="-120"/>
                        </a:rPr>
                        <a:t>28 Oct 2026</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Review-III</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(1/2)</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[1] {{Review-I paper 1: IEEE reference}}</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[2] {{Review-I paper 2: IEEE reference}}</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[3] {{Review-I paper 3: IEEE reference}}</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[4] {{Review-I paper 4: IEEE reference}}</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[5] {{Review-I paper 5: IEEE reference}}</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[6] {{Review-I paper 6: IEEE reference}}</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[7] {{Review-I paper 7: IEEE reference}}</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[8] {{Review-I paper 8: IEEE reference}}</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[9] {{Review-I paper 9: IEEE reference}}</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[10] {{Review-I paper 10: IEEE reference}}</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[11] S. Deandrea, E. Lucenteforte, F. Bravi, R. Foschi, C. La Vecchia, and E. Negri, “Risk factors for falls in community-dwelling older people: A systematic review and meta-analysis,” Epidemiology, vol. 21, no. 5, pp. 658–668, 2010.</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[12] J. M. Hausdorff, D. A. Rios, and H. K. Edelberg, “Gait variability and fall risk in community-living older adults: A 1-year prospective study,” Arch. Phys. Med. Rehabil., vol. 82, no. 8, pp. 1050–1056, 2001.</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[13] [TO VERIFY: authors], “Orthostatic hypotension and falls: A systematic review and meta-analysis,” J. Am. Med. Dir. Assoc., [TO VERIFY: vol., pp., year].</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[14] [TO VERIFY: authors], “[TO VERIFY: title] (sleep and falls, SWAN cohort),” Innov. Aging, 2024.</a:t>
            </a:r>
            <a:endParaRPr lang="en-US" sz="1600" dirty="0"/>
          </a:p>
          <a:p>
            <a:pPr marL="177800" indent="-1778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[15] T. Mishra et al., “Pre-symptomatic detection of COVID-19 from smartwatch data,” Nat. Biomed. Eng., vol. 4, no. 12, pp. 1208–1220, 2020.</a:t>
            </a:r>
            <a:endParaRPr lang="en-US" sz="16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(2/2)</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[16] [TO VERIFY: authors], “[TO VERIFY: title] (Oura ring measurements across the menstrual cycle),” Int. J. Women's Health, 2022.</a:t>
            </a:r>
            <a:endParaRPr lang="en-US" sz="1600" dirty="0"/>
          </a:p>
          <a:p>
            <a:pPr marL="177800" indent="-1778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[17] [TO VERIFY: authors], “[TO VERIFY: title] (wearable HRV across the menstrual cycle: living systematic review),” Sports Med., 2026.</a:t>
            </a:r>
            <a:endParaRPr lang="en-US" sz="1600" dirty="0"/>
          </a:p>
          <a:p>
            <a:pPr marL="177800" indent="-1778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[18] [TO VERIFY: initials] Askhatova et al., “[TO VERIFY: title] (temporal CNN fall-risk classification on LTMM),” MethodsX, 2026.</a:t>
            </a:r>
            <a:endParaRPr lang="en-US" sz="1600" dirty="0"/>
          </a:p>
          <a:p>
            <a:pPr marL="177800" indent="-1778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[19] A. Weiss, M. Brozgol, M. Dorfman, T. Herman, S. Shema, N. Giladi, and J. M. Hausdorff, “Does the evaluation of gait quality during daily life provide insight into fall risk? A novel approach using 3-day accelerometer recordings,” Neurorehabil. Neural Repair, vol. 27, no. 8, pp. 742–752, 2013.</a:t>
            </a:r>
            <a:endParaRPr lang="en-US" sz="1600" dirty="0"/>
          </a:p>
          <a:p>
            <a:pPr marL="177800" indent="-1778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[20] J. McCamley, M. Donati, E. Grimpampi, and C. Mazzà, “An enhanced estimate of initial contact and final contact instants of time using lower trunk inertial sensor data,” Gait Posture, vol. 36, no. 2, pp. 316–318, 2012.</a:t>
            </a:r>
            <a:endParaRPr lang="en-US" sz="1600" dirty="0"/>
          </a:p>
          <a:p>
            <a:pPr marL="177800" indent="-1778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[21] R. Moe-Nilssen and J. L. Helbostad, “Estimation of gait cycle characteristics by trunk accelerometry,” J. Biomech., vol. 37, no. 1, pp. 121–126, 2004. [TO VERIFY]</a:t>
            </a:r>
            <a:endParaRPr lang="en-US" sz="1600" dirty="0"/>
          </a:p>
          <a:p>
            <a:pPr marL="177800" indent="-1778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[22] D. Drover, J. Howcroft, J. Kofman, and E. D. Lemaire, “Faller classification in older adults using wearable sensors based on turn and straight-walking accelerometer-based features,” Sensors, vol. 17, no. 6, Art. no. 1321, 2017.</a:t>
            </a:r>
            <a:endParaRPr lang="en-US" sz="1600" dirty="0"/>
          </a:p>
          <a:p>
            <a:pPr marL="177800" indent="-177800">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[23] PhysioNet, “Long Term Movement Monitoring Database (LTMM), v1.0.0,” [TO VERIFY: IEEE entry and DOI].</a:t>
            </a:r>
            <a:endParaRPr lang="en-US" sz="16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21</a:t>
            </a:r>
            <a:endParaRPr lang="en-US" sz="1000" dirty="0"/>
          </a:p>
        </p:txBody>
      </p:sp>
      <p:pic>
        <p:nvPicPr>
          <p:cNvPr id="3"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4" name="Text 1"/>
          <p:cNvSpPr txBox="1"/>
          <p:nvPr/>
        </p:nvSpPr>
        <p:spPr>
          <a:xfrm>
            <a:off x="548640" y="2743200"/>
            <a:ext cx="11091672" cy="914400"/>
          </a:xfrm>
          <a:prstGeom prst="rect">
            <a:avLst/>
          </a:prstGeom>
          <a:noFill/>
          <a:ln/>
        </p:spPr>
        <p:txBody>
          <a:bodyPr wrap="square" lIns="0" tIns="0" rIns="0" bIns="0" rtlCol="0" anchor="ctr"/>
          <a:lstStyle/>
          <a:p>
            <a:pPr marL="0" indent="0" algn="ctr">
              <a:buNone/>
            </a:pPr>
            <a:r>
              <a:rPr lang="en-US" sz="4000" b="1" dirty="0">
                <a:solidFill>
                  <a:srgbClr val="1D2F82"/>
                </a:solidFill>
                <a:latin typeface="Calibri" pitchFamily="34" charset="0"/>
                <a:ea typeface="Calibri" pitchFamily="34" charset="-122"/>
                <a:cs typeface="Calibri" pitchFamily="34" charset="-120"/>
              </a:rPr>
              <a:t>Thank You</a:t>
            </a:r>
            <a:endParaRPr lang="en-US" sz="4000" dirty="0"/>
          </a:p>
        </p:txBody>
      </p:sp>
      <p:sp>
        <p:nvSpPr>
          <p:cNvPr id="5" name="Text 2"/>
          <p:cNvSpPr txBox="1"/>
          <p:nvPr/>
        </p:nvSpPr>
        <p:spPr>
          <a:xfrm>
            <a:off x="548640" y="3749040"/>
            <a:ext cx="11091672" cy="365760"/>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Project-I (2026)  ·  SENSE  ·  VIT Chennai</a:t>
            </a:r>
            <a:endParaRPr lang="en-US" sz="14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Backup: Full Architecture (1/2)</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architecture_full_1.png"/>
          <p:cNvPicPr>
            <a:picLocks noChangeAspect="1"/>
          </p:cNvPicPr>
          <p:nvPr/>
        </p:nvPicPr>
        <p:blipFill>
          <a:blip r:embed="rId3"/>
          <a:stretch>
            <a:fillRect/>
          </a:stretch>
        </p:blipFill>
        <p:spPr>
          <a:xfrm>
            <a:off x="365760" y="1235301"/>
            <a:ext cx="11457432" cy="493603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Backup: Full Architecture (2/2)</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architecture_full_2.png"/>
          <p:cNvPicPr>
            <a:picLocks noChangeAspect="1"/>
          </p:cNvPicPr>
          <p:nvPr/>
        </p:nvPicPr>
        <p:blipFill>
          <a:blip r:embed="rId3"/>
          <a:stretch>
            <a:fillRect/>
          </a:stretch>
        </p:blipFill>
        <p:spPr>
          <a:xfrm>
            <a:off x="365760" y="1719110"/>
            <a:ext cx="11457432" cy="39684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344</Words>
  <Application>Microsoft Macintosh PowerPoint</Application>
  <PresentationFormat>Widescreen</PresentationFormat>
  <Paragraphs>73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kandan</cp:lastModifiedBy>
  <cp:revision>2</cp:revision>
  <dcterms:created xsi:type="dcterms:W3CDTF">2026-08-27T09:57:11Z</dcterms:created>
  <dcterms:modified xsi:type="dcterms:W3CDTF">2026-09-23T05:52:39Z</dcterms:modified>
</cp:coreProperties>
</file>